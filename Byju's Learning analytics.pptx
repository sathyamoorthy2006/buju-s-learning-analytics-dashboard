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84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0901168" userId="efa455d3-4e1c-412b-86ae-ac4b840e8491" providerId="ADAL" clId="{1F99FA0D-10C8-4648-AB72-829527D175B7}"/>
    <pc:docChg chg="custSel modSld">
      <pc:chgData name="S0901168" userId="efa455d3-4e1c-412b-86ae-ac4b840e8491" providerId="ADAL" clId="{1F99FA0D-10C8-4648-AB72-829527D175B7}" dt="2026-09-24T11:03:32.142" v="92" actId="20577"/>
      <pc:docMkLst>
        <pc:docMk/>
      </pc:docMkLst>
      <pc:sldChg chg="modSp mod">
        <pc:chgData name="S0901168" userId="efa455d3-4e1c-412b-86ae-ac4b840e8491" providerId="ADAL" clId="{1F99FA0D-10C8-4648-AB72-829527D175B7}" dt="2026-09-24T11:03:32.142" v="92" actId="20577"/>
        <pc:sldMkLst>
          <pc:docMk/>
          <pc:sldMk cId="0" sldId="256"/>
        </pc:sldMkLst>
        <pc:spChg chg="mod">
          <ac:chgData name="S0901168" userId="efa455d3-4e1c-412b-86ae-ac4b840e8491" providerId="ADAL" clId="{1F99FA0D-10C8-4648-AB72-829527D175B7}" dt="2026-09-24T11:03:32.142" v="92" actId="20577"/>
          <ac:spMkLst>
            <pc:docMk/>
            <pc:sldMk cId="0" sldId="256"/>
            <ac:spMk id="6" creationId="{00000000-0000-0000-0000-000000000000}"/>
          </ac:spMkLst>
        </pc:spChg>
        <pc:spChg chg="mod">
          <ac:chgData name="S0901168" userId="efa455d3-4e1c-412b-86ae-ac4b840e8491" providerId="ADAL" clId="{1F99FA0D-10C8-4648-AB72-829527D175B7}" dt="2026-09-24T11:02:07.040" v="54" actId="20577"/>
          <ac:spMkLst>
            <pc:docMk/>
            <pc:sldMk cId="0" sldId="256"/>
            <ac:spMk id="11" creationId="{00000000-0000-0000-0000-000000000000}"/>
          </ac:spMkLst>
        </pc:spChg>
      </pc:sldChg>
      <pc:sldChg chg="modSp mod">
        <pc:chgData name="S0901168" userId="efa455d3-4e1c-412b-86ae-ac4b840e8491" providerId="ADAL" clId="{1F99FA0D-10C8-4648-AB72-829527D175B7}" dt="2026-09-24T11:03:01.851" v="80" actId="20577"/>
        <pc:sldMkLst>
          <pc:docMk/>
          <pc:sldMk cId="0" sldId="266"/>
        </pc:sldMkLst>
        <pc:spChg chg="mod">
          <ac:chgData name="S0901168" userId="efa455d3-4e1c-412b-86ae-ac4b840e8491" providerId="ADAL" clId="{1F99FA0D-10C8-4648-AB72-829527D175B7}" dt="2026-09-24T11:03:01.851" v="80" actId="20577"/>
          <ac:spMkLst>
            <pc:docMk/>
            <pc:sldMk cId="0" sldId="26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96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76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5F259F">
              <a:alpha val="60000"/>
            </a:srgbClr>
          </a:solidFill>
          <a:ln/>
        </p:spPr>
        <p:txBody>
          <a:bodyPr/>
          <a:lstStyle/>
          <a:p>
            <a:endParaRPr lang="en-IN"/>
          </a:p>
        </p:txBody>
      </p:sp>
      <p:sp>
        <p:nvSpPr>
          <p:cNvPr id="3" name="Shape 1"/>
          <p:cNvSpPr/>
          <p:nvPr/>
        </p:nvSpPr>
        <p:spPr>
          <a:xfrm>
            <a:off x="-1463040" y="4754880"/>
            <a:ext cx="3657600" cy="3657600"/>
          </a:xfrm>
          <a:prstGeom prst="ellipse">
            <a:avLst/>
          </a:prstGeom>
          <a:solidFill>
            <a:srgbClr val="F2A900">
              <a:alpha val="25000"/>
            </a:srgbClr>
          </a:solidFill>
          <a:ln/>
        </p:spPr>
        <p:txBody>
          <a:bodyPr/>
          <a:lstStyle/>
          <a:p>
            <a:endParaRPr lang="en-IN"/>
          </a:p>
        </p:txBody>
      </p:sp>
      <p:sp>
        <p:nvSpPr>
          <p:cNvPr id="20" name="Logo Card"/>
          <p:cNvSpPr/>
          <p:nvPr/>
        </p:nvSpPr>
        <p:spPr>
          <a:xfrm>
            <a:off x="914400" y="365760"/>
            <a:ext cx="1641065" cy="1828800"/>
          </a:xfrm>
          <a:prstGeom prst="roundRect">
            <a:avLst>
              <a:gd name="adj" fmla="val 8000"/>
            </a:avLst>
          </a:prstGeom>
          <a:solidFill>
            <a:srgbClr val="FFFFFF"/>
          </a:solidFill>
          <a:ln>
            <a:noFill/>
          </a:ln>
        </p:spPr>
        <p:txBody>
          <a:bodyPr/>
          <a:lstStyle/>
          <a:p>
            <a:endParaRPr lang="en-US"/>
          </a:p>
        </p:txBody>
      </p:sp>
      <p:pic>
        <p:nvPicPr>
          <p:cNvPr id="21" name="BYJU'S Logo" descr="BYJU'S The Learning App logo"/>
          <p:cNvPicPr>
            <a:picLocks noChangeAspect="1"/>
          </p:cNvPicPr>
          <p:nvPr/>
        </p:nvPicPr>
        <p:blipFill>
          <a:blip r:embed="rId3"/>
          <a:stretch>
            <a:fillRect/>
          </a:stretch>
        </p:blipFill>
        <p:spPr>
          <a:xfrm>
            <a:off x="1097280" y="548640"/>
            <a:ext cx="1275305" cy="1463040"/>
          </a:xfrm>
          <a:prstGeom prst="rect">
            <a:avLst/>
          </a:prstGeom>
        </p:spPr>
      </p:pic>
      <p:sp>
        <p:nvSpPr>
          <p:cNvPr id="6" name="Text 4"/>
          <p:cNvSpPr/>
          <p:nvPr/>
        </p:nvSpPr>
        <p:spPr>
          <a:xfrm>
            <a:off x="822960" y="2651760"/>
            <a:ext cx="9875520" cy="1188720"/>
          </a:xfrm>
          <a:prstGeom prst="rect">
            <a:avLst/>
          </a:prstGeom>
          <a:noFill/>
          <a:ln/>
        </p:spPr>
        <p:txBody>
          <a:bodyPr wrap="square" rtlCol="0" anchor="ctr"/>
          <a:lstStyle/>
          <a:p>
            <a:pPr marL="0" indent="0">
              <a:buNone/>
            </a:pPr>
            <a:r>
              <a:rPr lang="en-US" sz="4400" b="1" dirty="0" err="1">
                <a:solidFill>
                  <a:srgbClr val="FFFFFF"/>
                </a:solidFill>
                <a:latin typeface="Cambria" pitchFamily="34" charset="0"/>
                <a:ea typeface="Cambria" pitchFamily="34" charset="-122"/>
                <a:cs typeface="Cambria" pitchFamily="34" charset="-120"/>
              </a:rPr>
              <a:t>Byju’s</a:t>
            </a:r>
            <a:r>
              <a:rPr lang="en-US" sz="4400" b="1" dirty="0">
                <a:solidFill>
                  <a:srgbClr val="FFFFFF"/>
                </a:solidFill>
                <a:latin typeface="Cambria" pitchFamily="34" charset="0"/>
                <a:ea typeface="Cambria" pitchFamily="34" charset="-122"/>
                <a:cs typeface="Cambria" pitchFamily="34" charset="-120"/>
              </a:rPr>
              <a:t> Learning Analytics Dashboard</a:t>
            </a:r>
            <a:endParaRPr lang="en-US" sz="4400" dirty="0"/>
          </a:p>
        </p:txBody>
      </p:sp>
      <p:sp>
        <p:nvSpPr>
          <p:cNvPr id="7" name="Text 5"/>
          <p:cNvSpPr/>
          <p:nvPr/>
        </p:nvSpPr>
        <p:spPr>
          <a:xfrm>
            <a:off x="822960" y="3703320"/>
            <a:ext cx="8961120" cy="640080"/>
          </a:xfrm>
          <a:prstGeom prst="rect">
            <a:avLst/>
          </a:prstGeom>
          <a:noFill/>
          <a:ln/>
        </p:spPr>
        <p:txBody>
          <a:bodyPr wrap="square" rtlCol="0" anchor="ctr"/>
          <a:lstStyle/>
          <a:p>
            <a:pPr marL="0" indent="0">
              <a:buNone/>
            </a:pPr>
            <a:r>
              <a:rPr lang="en-US" sz="1600" dirty="0">
                <a:solidFill>
                  <a:srgbClr val="E4D5F7"/>
                </a:solidFill>
                <a:latin typeface="Calibri" pitchFamily="34" charset="0"/>
                <a:ea typeface="Calibri" pitchFamily="34" charset="-122"/>
                <a:cs typeface="Calibri" pitchFamily="34" charset="-120"/>
              </a:rPr>
              <a:t>Data Cleaning, KPI Design &amp; Business Insights from Student, Fee and Engagement Data</a:t>
            </a:r>
            <a:endParaRPr lang="en-US" sz="1600" dirty="0"/>
          </a:p>
        </p:txBody>
      </p:sp>
      <p:sp>
        <p:nvSpPr>
          <p:cNvPr id="8" name="Shape 6"/>
          <p:cNvSpPr/>
          <p:nvPr/>
        </p:nvSpPr>
        <p:spPr>
          <a:xfrm>
            <a:off x="868680" y="5074920"/>
            <a:ext cx="2011680" cy="0"/>
          </a:xfrm>
          <a:prstGeom prst="line">
            <a:avLst/>
          </a:prstGeom>
          <a:noFill/>
          <a:ln w="31750">
            <a:solidFill>
              <a:srgbClr val="F2A900"/>
            </a:solidFill>
            <a:prstDash val="solid"/>
          </a:ln>
        </p:spPr>
        <p:txBody>
          <a:bodyPr/>
          <a:lstStyle/>
          <a:p>
            <a:endParaRPr lang="en-IN"/>
          </a:p>
        </p:txBody>
      </p:sp>
      <p:sp>
        <p:nvSpPr>
          <p:cNvPr id="9" name="Text 7"/>
          <p:cNvSpPr/>
          <p:nvPr/>
        </p:nvSpPr>
        <p:spPr>
          <a:xfrm>
            <a:off x="822960" y="5257800"/>
            <a:ext cx="3657600" cy="274320"/>
          </a:xfrm>
          <a:prstGeom prst="rect">
            <a:avLst/>
          </a:prstGeom>
          <a:noFill/>
          <a:ln/>
        </p:spPr>
        <p:txBody>
          <a:bodyPr wrap="square" rtlCol="0" anchor="ctr"/>
          <a:lstStyle/>
          <a:p>
            <a:pPr marL="0" indent="0">
              <a:buNone/>
            </a:pPr>
            <a:r>
              <a:rPr lang="en-US" sz="1200" dirty="0">
                <a:solidFill>
                  <a:srgbClr val="C7B3E0"/>
                </a:solidFill>
                <a:latin typeface="Calibri" pitchFamily="34" charset="0"/>
                <a:ea typeface="Calibri" pitchFamily="34" charset="-122"/>
                <a:cs typeface="Calibri" pitchFamily="34" charset="-120"/>
              </a:rPr>
              <a:t>Presented by</a:t>
            </a:r>
            <a:endParaRPr lang="en-US" sz="1200" dirty="0"/>
          </a:p>
        </p:txBody>
      </p:sp>
      <p:sp>
        <p:nvSpPr>
          <p:cNvPr id="10" name="Text 8"/>
          <p:cNvSpPr/>
          <p:nvPr/>
        </p:nvSpPr>
        <p:spPr>
          <a:xfrm>
            <a:off x="822960" y="5532120"/>
            <a:ext cx="54864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SATHYAMOORTHY M</a:t>
            </a:r>
            <a:endParaRPr lang="en-US" sz="2200" dirty="0"/>
          </a:p>
        </p:txBody>
      </p:sp>
      <p:sp>
        <p:nvSpPr>
          <p:cNvPr id="11" name="Text 9"/>
          <p:cNvSpPr/>
          <p:nvPr/>
        </p:nvSpPr>
        <p:spPr>
          <a:xfrm>
            <a:off x="822960" y="5989320"/>
            <a:ext cx="5486400" cy="320040"/>
          </a:xfrm>
          <a:prstGeom prst="rect">
            <a:avLst/>
          </a:prstGeom>
          <a:noFill/>
          <a:ln/>
        </p:spPr>
        <p:txBody>
          <a:bodyPr wrap="square" rtlCol="0" anchor="ctr"/>
          <a:lstStyle/>
          <a:p>
            <a:pPr marL="0" indent="0">
              <a:buNone/>
            </a:pPr>
            <a:r>
              <a:rPr lang="en-US" sz="1200" dirty="0">
                <a:solidFill>
                  <a:srgbClr val="C7B3E0"/>
                </a:solidFill>
                <a:latin typeface="Calibri" pitchFamily="34" charset="0"/>
                <a:ea typeface="Calibri" pitchFamily="34" charset="-122"/>
                <a:cs typeface="Calibri" pitchFamily="34" charset="-120"/>
              </a:rPr>
              <a:t>Advanced Excel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5F259F"/>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2B1B3D"/>
                </a:solidFill>
                <a:latin typeface="Cambria" pitchFamily="34" charset="0"/>
                <a:ea typeface="Cambria" pitchFamily="34" charset="-122"/>
                <a:cs typeface="Cambria" pitchFamily="34" charset="-120"/>
              </a:rPr>
              <a:t>What This Presentation Covers</a:t>
            </a:r>
            <a:endParaRPr lang="en-US" sz="3000" dirty="0"/>
          </a:p>
        </p:txBody>
      </p:sp>
      <p:sp>
        <p:nvSpPr>
          <p:cNvPr id="4" name="Shape 2"/>
          <p:cNvSpPr/>
          <p:nvPr/>
        </p:nvSpPr>
        <p:spPr>
          <a:xfrm>
            <a:off x="548640" y="1600200"/>
            <a:ext cx="5120640" cy="1234440"/>
          </a:xfrm>
          <a:prstGeom prst="roundRect">
            <a:avLst>
              <a:gd name="adj" fmla="val 5926"/>
            </a:avLst>
          </a:prstGeom>
          <a:solidFill>
            <a:srgbClr val="F3ECFB"/>
          </a:solidFill>
          <a:ln/>
        </p:spPr>
        <p:txBody>
          <a:bodyPr/>
          <a:lstStyle/>
          <a:p>
            <a:endParaRPr lang="en-IN"/>
          </a:p>
        </p:txBody>
      </p:sp>
      <p:sp>
        <p:nvSpPr>
          <p:cNvPr id="5" name="Text 3"/>
          <p:cNvSpPr/>
          <p:nvPr/>
        </p:nvSpPr>
        <p:spPr>
          <a:xfrm>
            <a:off x="777240" y="1764792"/>
            <a:ext cx="914400" cy="914400"/>
          </a:xfrm>
          <a:prstGeom prst="rect">
            <a:avLst/>
          </a:prstGeom>
          <a:noFill/>
          <a:ln/>
        </p:spPr>
        <p:txBody>
          <a:bodyPr wrap="square" rtlCol="0" anchor="ctr"/>
          <a:lstStyle/>
          <a:p>
            <a:pPr marL="0" indent="0">
              <a:buNone/>
            </a:pPr>
            <a:r>
              <a:rPr lang="en-US" sz="3200" b="1" dirty="0">
                <a:solidFill>
                  <a:srgbClr val="5F259F">
                    <a:alpha val="85000"/>
                  </a:srgbClr>
                </a:solidFill>
                <a:latin typeface="Cambria" pitchFamily="34" charset="0"/>
                <a:ea typeface="Cambria" pitchFamily="34" charset="-122"/>
                <a:cs typeface="Cambria" pitchFamily="34" charset="-120"/>
              </a:rPr>
              <a:t>01</a:t>
            </a:r>
            <a:endParaRPr lang="en-US" sz="3200" dirty="0"/>
          </a:p>
        </p:txBody>
      </p:sp>
      <p:sp>
        <p:nvSpPr>
          <p:cNvPr id="6" name="Text 4"/>
          <p:cNvSpPr/>
          <p:nvPr/>
        </p:nvSpPr>
        <p:spPr>
          <a:xfrm>
            <a:off x="1645920" y="1783080"/>
            <a:ext cx="3840480" cy="365760"/>
          </a:xfrm>
          <a:prstGeom prst="rect">
            <a:avLst/>
          </a:prstGeom>
          <a:noFill/>
          <a:ln/>
        </p:spPr>
        <p:txBody>
          <a:bodyPr wrap="square" rtlCol="0" anchor="ctr"/>
          <a:lstStyle/>
          <a:p>
            <a:pPr marL="0" indent="0">
              <a:buNone/>
            </a:pPr>
            <a:r>
              <a:rPr lang="en-US" sz="1500" b="1" dirty="0">
                <a:solidFill>
                  <a:srgbClr val="2B1B3D"/>
                </a:solidFill>
                <a:latin typeface="Calibri" pitchFamily="34" charset="0"/>
                <a:ea typeface="Calibri" pitchFamily="34" charset="-122"/>
                <a:cs typeface="Calibri" pitchFamily="34" charset="-120"/>
              </a:rPr>
              <a:t>Project Overview</a:t>
            </a:r>
            <a:endParaRPr lang="en-US" sz="1500" dirty="0"/>
          </a:p>
        </p:txBody>
      </p:sp>
      <p:sp>
        <p:nvSpPr>
          <p:cNvPr id="7" name="Text 5"/>
          <p:cNvSpPr/>
          <p:nvPr/>
        </p:nvSpPr>
        <p:spPr>
          <a:xfrm>
            <a:off x="1645920" y="2167128"/>
            <a:ext cx="3840480" cy="594360"/>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Scope, data source and objectives of the analysis</a:t>
            </a:r>
            <a:endParaRPr lang="en-US" sz="1100" dirty="0"/>
          </a:p>
        </p:txBody>
      </p:sp>
      <p:sp>
        <p:nvSpPr>
          <p:cNvPr id="8" name="Shape 6"/>
          <p:cNvSpPr/>
          <p:nvPr/>
        </p:nvSpPr>
        <p:spPr>
          <a:xfrm>
            <a:off x="6126480" y="1600200"/>
            <a:ext cx="5120640" cy="1234440"/>
          </a:xfrm>
          <a:prstGeom prst="roundRect">
            <a:avLst>
              <a:gd name="adj" fmla="val 5926"/>
            </a:avLst>
          </a:prstGeom>
          <a:solidFill>
            <a:srgbClr val="F3ECFB"/>
          </a:solidFill>
          <a:ln/>
        </p:spPr>
        <p:txBody>
          <a:bodyPr/>
          <a:lstStyle/>
          <a:p>
            <a:endParaRPr lang="en-IN"/>
          </a:p>
        </p:txBody>
      </p:sp>
      <p:sp>
        <p:nvSpPr>
          <p:cNvPr id="9" name="Text 7"/>
          <p:cNvSpPr/>
          <p:nvPr/>
        </p:nvSpPr>
        <p:spPr>
          <a:xfrm>
            <a:off x="6355080" y="1764792"/>
            <a:ext cx="914400" cy="914400"/>
          </a:xfrm>
          <a:prstGeom prst="rect">
            <a:avLst/>
          </a:prstGeom>
          <a:noFill/>
          <a:ln/>
        </p:spPr>
        <p:txBody>
          <a:bodyPr wrap="square" rtlCol="0" anchor="ctr"/>
          <a:lstStyle/>
          <a:p>
            <a:pPr marL="0" indent="0">
              <a:buNone/>
            </a:pPr>
            <a:r>
              <a:rPr lang="en-US" sz="3200" b="1" dirty="0">
                <a:solidFill>
                  <a:srgbClr val="5F259F">
                    <a:alpha val="85000"/>
                  </a:srgbClr>
                </a:solidFill>
                <a:latin typeface="Cambria" pitchFamily="34" charset="0"/>
                <a:ea typeface="Cambria" pitchFamily="34" charset="-122"/>
                <a:cs typeface="Cambria" pitchFamily="34" charset="-120"/>
              </a:rPr>
              <a:t>02</a:t>
            </a:r>
            <a:endParaRPr lang="en-US" sz="3200" dirty="0"/>
          </a:p>
        </p:txBody>
      </p:sp>
      <p:sp>
        <p:nvSpPr>
          <p:cNvPr id="10" name="Text 8"/>
          <p:cNvSpPr/>
          <p:nvPr/>
        </p:nvSpPr>
        <p:spPr>
          <a:xfrm>
            <a:off x="7223760" y="1783080"/>
            <a:ext cx="3840480" cy="365760"/>
          </a:xfrm>
          <a:prstGeom prst="rect">
            <a:avLst/>
          </a:prstGeom>
          <a:noFill/>
          <a:ln/>
        </p:spPr>
        <p:txBody>
          <a:bodyPr wrap="square" rtlCol="0" anchor="ctr"/>
          <a:lstStyle/>
          <a:p>
            <a:pPr marL="0" indent="0">
              <a:buNone/>
            </a:pPr>
            <a:r>
              <a:rPr lang="en-US" sz="1500" b="1" dirty="0">
                <a:solidFill>
                  <a:srgbClr val="2B1B3D"/>
                </a:solidFill>
                <a:latin typeface="Calibri" pitchFamily="34" charset="0"/>
                <a:ea typeface="Calibri" pitchFamily="34" charset="-122"/>
                <a:cs typeface="Calibri" pitchFamily="34" charset="-120"/>
              </a:rPr>
              <a:t>Data Cleaning Framework</a:t>
            </a:r>
            <a:endParaRPr lang="en-US" sz="1500" dirty="0"/>
          </a:p>
        </p:txBody>
      </p:sp>
      <p:sp>
        <p:nvSpPr>
          <p:cNvPr id="11" name="Text 9"/>
          <p:cNvSpPr/>
          <p:nvPr/>
        </p:nvSpPr>
        <p:spPr>
          <a:xfrm>
            <a:off x="7223760" y="2167128"/>
            <a:ext cx="3840480" cy="594360"/>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Standardising, flagging and validating raw records</a:t>
            </a:r>
            <a:endParaRPr lang="en-US" sz="1100" dirty="0"/>
          </a:p>
        </p:txBody>
      </p:sp>
      <p:sp>
        <p:nvSpPr>
          <p:cNvPr id="12" name="Shape 10"/>
          <p:cNvSpPr/>
          <p:nvPr/>
        </p:nvSpPr>
        <p:spPr>
          <a:xfrm>
            <a:off x="548640" y="3063240"/>
            <a:ext cx="5120640" cy="1234440"/>
          </a:xfrm>
          <a:prstGeom prst="roundRect">
            <a:avLst>
              <a:gd name="adj" fmla="val 5926"/>
            </a:avLst>
          </a:prstGeom>
          <a:solidFill>
            <a:srgbClr val="F3ECFB"/>
          </a:solidFill>
          <a:ln/>
        </p:spPr>
        <p:txBody>
          <a:bodyPr/>
          <a:lstStyle/>
          <a:p>
            <a:endParaRPr lang="en-IN"/>
          </a:p>
        </p:txBody>
      </p:sp>
      <p:sp>
        <p:nvSpPr>
          <p:cNvPr id="13" name="Text 11"/>
          <p:cNvSpPr/>
          <p:nvPr/>
        </p:nvSpPr>
        <p:spPr>
          <a:xfrm>
            <a:off x="777240" y="3227832"/>
            <a:ext cx="914400" cy="914400"/>
          </a:xfrm>
          <a:prstGeom prst="rect">
            <a:avLst/>
          </a:prstGeom>
          <a:noFill/>
          <a:ln/>
        </p:spPr>
        <p:txBody>
          <a:bodyPr wrap="square" rtlCol="0" anchor="ctr"/>
          <a:lstStyle/>
          <a:p>
            <a:pPr marL="0" indent="0">
              <a:buNone/>
            </a:pPr>
            <a:r>
              <a:rPr lang="en-US" sz="3200" b="1" dirty="0">
                <a:solidFill>
                  <a:srgbClr val="5F259F">
                    <a:alpha val="85000"/>
                  </a:srgbClr>
                </a:solidFill>
                <a:latin typeface="Cambria" pitchFamily="34" charset="0"/>
                <a:ea typeface="Cambria" pitchFamily="34" charset="-122"/>
                <a:cs typeface="Cambria" pitchFamily="34" charset="-120"/>
              </a:rPr>
              <a:t>03</a:t>
            </a:r>
            <a:endParaRPr lang="en-US" sz="3200" dirty="0"/>
          </a:p>
        </p:txBody>
      </p:sp>
      <p:sp>
        <p:nvSpPr>
          <p:cNvPr id="14" name="Text 12"/>
          <p:cNvSpPr/>
          <p:nvPr/>
        </p:nvSpPr>
        <p:spPr>
          <a:xfrm>
            <a:off x="1645920" y="3246120"/>
            <a:ext cx="3840480" cy="365760"/>
          </a:xfrm>
          <a:prstGeom prst="rect">
            <a:avLst/>
          </a:prstGeom>
          <a:noFill/>
          <a:ln/>
        </p:spPr>
        <p:txBody>
          <a:bodyPr wrap="square" rtlCol="0" anchor="ctr"/>
          <a:lstStyle/>
          <a:p>
            <a:pPr marL="0" indent="0">
              <a:buNone/>
            </a:pPr>
            <a:r>
              <a:rPr lang="en-US" sz="1500" b="1" dirty="0">
                <a:solidFill>
                  <a:srgbClr val="2B1B3D"/>
                </a:solidFill>
                <a:latin typeface="Calibri" pitchFamily="34" charset="0"/>
                <a:ea typeface="Calibri" pitchFamily="34" charset="-122"/>
                <a:cs typeface="Calibri" pitchFamily="34" charset="-120"/>
              </a:rPr>
              <a:t>Cleaning &amp; KPI Formulas</a:t>
            </a:r>
            <a:endParaRPr lang="en-US" sz="1500" dirty="0"/>
          </a:p>
        </p:txBody>
      </p:sp>
      <p:sp>
        <p:nvSpPr>
          <p:cNvPr id="15" name="Text 13"/>
          <p:cNvSpPr/>
          <p:nvPr/>
        </p:nvSpPr>
        <p:spPr>
          <a:xfrm>
            <a:off x="1645920" y="3630168"/>
            <a:ext cx="3840480" cy="594360"/>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Excel functions used to build a reliable dataset</a:t>
            </a:r>
            <a:endParaRPr lang="en-US" sz="1100" dirty="0"/>
          </a:p>
        </p:txBody>
      </p:sp>
      <p:sp>
        <p:nvSpPr>
          <p:cNvPr id="16" name="Shape 14"/>
          <p:cNvSpPr/>
          <p:nvPr/>
        </p:nvSpPr>
        <p:spPr>
          <a:xfrm>
            <a:off x="6126480" y="3063240"/>
            <a:ext cx="5120640" cy="1234440"/>
          </a:xfrm>
          <a:prstGeom prst="roundRect">
            <a:avLst>
              <a:gd name="adj" fmla="val 5926"/>
            </a:avLst>
          </a:prstGeom>
          <a:solidFill>
            <a:srgbClr val="F3ECFB"/>
          </a:solidFill>
          <a:ln/>
        </p:spPr>
        <p:txBody>
          <a:bodyPr/>
          <a:lstStyle/>
          <a:p>
            <a:endParaRPr lang="en-IN"/>
          </a:p>
        </p:txBody>
      </p:sp>
      <p:sp>
        <p:nvSpPr>
          <p:cNvPr id="17" name="Text 15"/>
          <p:cNvSpPr/>
          <p:nvPr/>
        </p:nvSpPr>
        <p:spPr>
          <a:xfrm>
            <a:off x="6355080" y="3227832"/>
            <a:ext cx="914400" cy="914400"/>
          </a:xfrm>
          <a:prstGeom prst="rect">
            <a:avLst/>
          </a:prstGeom>
          <a:noFill/>
          <a:ln/>
        </p:spPr>
        <p:txBody>
          <a:bodyPr wrap="square" rtlCol="0" anchor="ctr"/>
          <a:lstStyle/>
          <a:p>
            <a:pPr marL="0" indent="0">
              <a:buNone/>
            </a:pPr>
            <a:r>
              <a:rPr lang="en-US" sz="3200" b="1" dirty="0">
                <a:solidFill>
                  <a:srgbClr val="5F259F">
                    <a:alpha val="85000"/>
                  </a:srgbClr>
                </a:solidFill>
                <a:latin typeface="Cambria" pitchFamily="34" charset="0"/>
                <a:ea typeface="Cambria" pitchFamily="34" charset="-122"/>
                <a:cs typeface="Cambria" pitchFamily="34" charset="-120"/>
              </a:rPr>
              <a:t>04</a:t>
            </a:r>
            <a:endParaRPr lang="en-US" sz="3200" dirty="0"/>
          </a:p>
        </p:txBody>
      </p:sp>
      <p:sp>
        <p:nvSpPr>
          <p:cNvPr id="18" name="Text 16"/>
          <p:cNvSpPr/>
          <p:nvPr/>
        </p:nvSpPr>
        <p:spPr>
          <a:xfrm>
            <a:off x="7223760" y="3246120"/>
            <a:ext cx="3840480" cy="365760"/>
          </a:xfrm>
          <a:prstGeom prst="rect">
            <a:avLst/>
          </a:prstGeom>
          <a:noFill/>
          <a:ln/>
        </p:spPr>
        <p:txBody>
          <a:bodyPr wrap="square" rtlCol="0" anchor="ctr"/>
          <a:lstStyle/>
          <a:p>
            <a:pPr marL="0" indent="0">
              <a:buNone/>
            </a:pPr>
            <a:r>
              <a:rPr lang="en-US" sz="1500" b="1" dirty="0">
                <a:solidFill>
                  <a:srgbClr val="2B1B3D"/>
                </a:solidFill>
                <a:latin typeface="Calibri" pitchFamily="34" charset="0"/>
                <a:ea typeface="Calibri" pitchFamily="34" charset="-122"/>
                <a:cs typeface="Calibri" pitchFamily="34" charset="-120"/>
              </a:rPr>
              <a:t>Pivot Table Analysis</a:t>
            </a:r>
            <a:endParaRPr lang="en-US" sz="1500" dirty="0"/>
          </a:p>
        </p:txBody>
      </p:sp>
      <p:sp>
        <p:nvSpPr>
          <p:cNvPr id="19" name="Text 17"/>
          <p:cNvSpPr/>
          <p:nvPr/>
        </p:nvSpPr>
        <p:spPr>
          <a:xfrm>
            <a:off x="7223760" y="3630168"/>
            <a:ext cx="3840480" cy="594360"/>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Fees, enrolment and performance cut by course &amp; state</a:t>
            </a:r>
            <a:endParaRPr lang="en-US" sz="1100" dirty="0"/>
          </a:p>
        </p:txBody>
      </p:sp>
      <p:sp>
        <p:nvSpPr>
          <p:cNvPr id="20" name="Shape 18"/>
          <p:cNvSpPr/>
          <p:nvPr/>
        </p:nvSpPr>
        <p:spPr>
          <a:xfrm>
            <a:off x="548640" y="4526280"/>
            <a:ext cx="5120640" cy="1234440"/>
          </a:xfrm>
          <a:prstGeom prst="roundRect">
            <a:avLst>
              <a:gd name="adj" fmla="val 5926"/>
            </a:avLst>
          </a:prstGeom>
          <a:solidFill>
            <a:srgbClr val="F3ECFB"/>
          </a:solidFill>
          <a:ln/>
        </p:spPr>
        <p:txBody>
          <a:bodyPr/>
          <a:lstStyle/>
          <a:p>
            <a:endParaRPr lang="en-IN"/>
          </a:p>
        </p:txBody>
      </p:sp>
      <p:sp>
        <p:nvSpPr>
          <p:cNvPr id="21" name="Text 19"/>
          <p:cNvSpPr/>
          <p:nvPr/>
        </p:nvSpPr>
        <p:spPr>
          <a:xfrm>
            <a:off x="777240" y="4690872"/>
            <a:ext cx="914400" cy="914400"/>
          </a:xfrm>
          <a:prstGeom prst="rect">
            <a:avLst/>
          </a:prstGeom>
          <a:noFill/>
          <a:ln/>
        </p:spPr>
        <p:txBody>
          <a:bodyPr wrap="square" rtlCol="0" anchor="ctr"/>
          <a:lstStyle/>
          <a:p>
            <a:pPr marL="0" indent="0">
              <a:buNone/>
            </a:pPr>
            <a:r>
              <a:rPr lang="en-US" sz="3200" b="1" dirty="0">
                <a:solidFill>
                  <a:srgbClr val="5F259F">
                    <a:alpha val="85000"/>
                  </a:srgbClr>
                </a:solidFill>
                <a:latin typeface="Cambria" pitchFamily="34" charset="0"/>
                <a:ea typeface="Cambria" pitchFamily="34" charset="-122"/>
                <a:cs typeface="Cambria" pitchFamily="34" charset="-120"/>
              </a:rPr>
              <a:t>05</a:t>
            </a:r>
            <a:endParaRPr lang="en-US" sz="3200" dirty="0"/>
          </a:p>
        </p:txBody>
      </p:sp>
      <p:sp>
        <p:nvSpPr>
          <p:cNvPr id="22" name="Text 20"/>
          <p:cNvSpPr/>
          <p:nvPr/>
        </p:nvSpPr>
        <p:spPr>
          <a:xfrm>
            <a:off x="1645920" y="4709160"/>
            <a:ext cx="3840480" cy="365760"/>
          </a:xfrm>
          <a:prstGeom prst="rect">
            <a:avLst/>
          </a:prstGeom>
          <a:noFill/>
          <a:ln/>
        </p:spPr>
        <p:txBody>
          <a:bodyPr wrap="square" rtlCol="0" anchor="ctr"/>
          <a:lstStyle/>
          <a:p>
            <a:pPr marL="0" indent="0">
              <a:buNone/>
            </a:pPr>
            <a:r>
              <a:rPr lang="en-US" sz="1500" b="1" dirty="0">
                <a:solidFill>
                  <a:srgbClr val="2B1B3D"/>
                </a:solidFill>
                <a:latin typeface="Calibri" pitchFamily="34" charset="0"/>
                <a:ea typeface="Calibri" pitchFamily="34" charset="-122"/>
                <a:cs typeface="Calibri" pitchFamily="34" charset="-120"/>
              </a:rPr>
              <a:t>Interactive Dashboard</a:t>
            </a:r>
            <a:endParaRPr lang="en-US" sz="1500" dirty="0"/>
          </a:p>
        </p:txBody>
      </p:sp>
      <p:sp>
        <p:nvSpPr>
          <p:cNvPr id="23" name="Text 21"/>
          <p:cNvSpPr/>
          <p:nvPr/>
        </p:nvSpPr>
        <p:spPr>
          <a:xfrm>
            <a:off x="1645920" y="5093208"/>
            <a:ext cx="3840480" cy="594360"/>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Consolidated view for leadership decision-making</a:t>
            </a:r>
            <a:endParaRPr lang="en-US" sz="1100" dirty="0"/>
          </a:p>
        </p:txBody>
      </p:sp>
      <p:sp>
        <p:nvSpPr>
          <p:cNvPr id="24" name="Shape 22"/>
          <p:cNvSpPr/>
          <p:nvPr/>
        </p:nvSpPr>
        <p:spPr>
          <a:xfrm>
            <a:off x="6126480" y="4526280"/>
            <a:ext cx="5120640" cy="1234440"/>
          </a:xfrm>
          <a:prstGeom prst="roundRect">
            <a:avLst>
              <a:gd name="adj" fmla="val 5926"/>
            </a:avLst>
          </a:prstGeom>
          <a:solidFill>
            <a:srgbClr val="F3ECFB"/>
          </a:solidFill>
          <a:ln/>
        </p:spPr>
        <p:txBody>
          <a:bodyPr/>
          <a:lstStyle/>
          <a:p>
            <a:endParaRPr lang="en-IN"/>
          </a:p>
        </p:txBody>
      </p:sp>
      <p:sp>
        <p:nvSpPr>
          <p:cNvPr id="25" name="Text 23"/>
          <p:cNvSpPr/>
          <p:nvPr/>
        </p:nvSpPr>
        <p:spPr>
          <a:xfrm>
            <a:off x="6355080" y="4690872"/>
            <a:ext cx="914400" cy="914400"/>
          </a:xfrm>
          <a:prstGeom prst="rect">
            <a:avLst/>
          </a:prstGeom>
          <a:noFill/>
          <a:ln/>
        </p:spPr>
        <p:txBody>
          <a:bodyPr wrap="square" rtlCol="0" anchor="ctr"/>
          <a:lstStyle/>
          <a:p>
            <a:pPr marL="0" indent="0">
              <a:buNone/>
            </a:pPr>
            <a:r>
              <a:rPr lang="en-US" sz="3200" b="1" dirty="0">
                <a:solidFill>
                  <a:srgbClr val="5F259F">
                    <a:alpha val="85000"/>
                  </a:srgbClr>
                </a:solidFill>
                <a:latin typeface="Cambria" pitchFamily="34" charset="0"/>
                <a:ea typeface="Cambria" pitchFamily="34" charset="-122"/>
                <a:cs typeface="Cambria" pitchFamily="34" charset="-120"/>
              </a:rPr>
              <a:t>06</a:t>
            </a:r>
            <a:endParaRPr lang="en-US" sz="3200" dirty="0"/>
          </a:p>
        </p:txBody>
      </p:sp>
      <p:sp>
        <p:nvSpPr>
          <p:cNvPr id="26" name="Text 24"/>
          <p:cNvSpPr/>
          <p:nvPr/>
        </p:nvSpPr>
        <p:spPr>
          <a:xfrm>
            <a:off x="7223760" y="4709160"/>
            <a:ext cx="3840480" cy="365760"/>
          </a:xfrm>
          <a:prstGeom prst="rect">
            <a:avLst/>
          </a:prstGeom>
          <a:noFill/>
          <a:ln/>
        </p:spPr>
        <p:txBody>
          <a:bodyPr wrap="square" rtlCol="0" anchor="ctr"/>
          <a:lstStyle/>
          <a:p>
            <a:pPr marL="0" indent="0">
              <a:buNone/>
            </a:pPr>
            <a:r>
              <a:rPr lang="en-US" sz="1500" b="1" dirty="0">
                <a:solidFill>
                  <a:srgbClr val="2B1B3D"/>
                </a:solidFill>
                <a:latin typeface="Calibri" pitchFamily="34" charset="0"/>
                <a:ea typeface="Calibri" pitchFamily="34" charset="-122"/>
                <a:cs typeface="Calibri" pitchFamily="34" charset="-120"/>
              </a:rPr>
              <a:t>Key Insights &amp; Recommendations</a:t>
            </a:r>
            <a:endParaRPr lang="en-US" sz="1500" dirty="0"/>
          </a:p>
        </p:txBody>
      </p:sp>
      <p:sp>
        <p:nvSpPr>
          <p:cNvPr id="27" name="Text 25"/>
          <p:cNvSpPr/>
          <p:nvPr/>
        </p:nvSpPr>
        <p:spPr>
          <a:xfrm>
            <a:off x="7223760" y="5093208"/>
            <a:ext cx="3840480" cy="594360"/>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What the numbers mean for the business</a:t>
            </a:r>
            <a:endParaRPr lang="en-US" sz="1100" dirty="0"/>
          </a:p>
        </p:txBody>
      </p:sp>
      <p:sp>
        <p:nvSpPr>
          <p:cNvPr id="28" name="Text 2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478"/>
                </a:solidFill>
                <a:latin typeface="Calibri" pitchFamily="34" charset="0"/>
                <a:ea typeface="Calibri" pitchFamily="34" charset="-122"/>
                <a:cs typeface="Calibri" pitchFamily="34" charset="-120"/>
              </a:rPr>
              <a:t>BYJU'S  |  Learning Analytics Dashboard</a:t>
            </a:r>
            <a:endParaRPr lang="en-US" sz="900" dirty="0"/>
          </a:p>
        </p:txBody>
      </p:sp>
      <p:sp>
        <p:nvSpPr>
          <p:cNvPr id="29" name="Text 27"/>
          <p:cNvSpPr/>
          <p:nvPr/>
        </p:nvSpPr>
        <p:spPr>
          <a:xfrm>
            <a:off x="11521440" y="6519672"/>
            <a:ext cx="365760" cy="274320"/>
          </a:xfrm>
          <a:prstGeom prst="rect">
            <a:avLst/>
          </a:prstGeom>
          <a:noFill/>
          <a:ln/>
        </p:spPr>
        <p:txBody>
          <a:bodyPr wrap="square" rtlCol="0" anchor="ctr"/>
          <a:lstStyle/>
          <a:p>
            <a:pPr marL="0" indent="0" algn="r">
              <a:buNone/>
            </a:pPr>
            <a:r>
              <a:rPr lang="en-US" sz="900" dirty="0">
                <a:solidFill>
                  <a:srgbClr val="6E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5F259F"/>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2B1B3D"/>
                </a:solidFill>
                <a:latin typeface="Cambria" pitchFamily="34" charset="0"/>
                <a:ea typeface="Cambria" pitchFamily="34" charset="-122"/>
                <a:cs typeface="Cambria" pitchFamily="34" charset="-120"/>
              </a:rPr>
              <a:t>From Raw Records to Business-Ready Insight</a:t>
            </a:r>
            <a:endParaRPr lang="en-US" sz="3000" dirty="0"/>
          </a:p>
        </p:txBody>
      </p:sp>
      <p:sp>
        <p:nvSpPr>
          <p:cNvPr id="4" name="Text 2"/>
          <p:cNvSpPr/>
          <p:nvPr/>
        </p:nvSpPr>
        <p:spPr>
          <a:xfrm>
            <a:off x="548640" y="1463040"/>
            <a:ext cx="5486400" cy="1554480"/>
          </a:xfrm>
          <a:prstGeom prst="rect">
            <a:avLst/>
          </a:prstGeom>
          <a:noFill/>
          <a:ln/>
        </p:spPr>
        <p:txBody>
          <a:bodyPr wrap="square" rtlCol="0" anchor="ctr"/>
          <a:lstStyle/>
          <a:p>
            <a:pPr marL="0" indent="0">
              <a:lnSpc>
                <a:spcPct val="125000"/>
              </a:lnSpc>
              <a:buNone/>
            </a:pPr>
            <a:r>
              <a:rPr lang="en-US" sz="1350" dirty="0">
                <a:solidFill>
                  <a:srgbClr val="2B1B3D"/>
                </a:solidFill>
                <a:latin typeface="Calibri" pitchFamily="34" charset="0"/>
                <a:ea typeface="Calibri" pitchFamily="34" charset="-122"/>
                <a:cs typeface="Calibri" pitchFamily="34" charset="-120"/>
              </a:rPr>
              <a:t>The workbook tracks 606 learners enrolled across eight BYJU'S course lines. Raw enrolment, fee and engagement records were cleaned, validated and flagged for quality before being summarised into pivot tables and a leadership dashboard.</a:t>
            </a:r>
            <a:endParaRPr lang="en-US" sz="1350" dirty="0"/>
          </a:p>
        </p:txBody>
      </p:sp>
      <p:sp>
        <p:nvSpPr>
          <p:cNvPr id="5" name="Text 3"/>
          <p:cNvSpPr/>
          <p:nvPr/>
        </p:nvSpPr>
        <p:spPr>
          <a:xfrm>
            <a:off x="548640" y="3063240"/>
            <a:ext cx="3657600" cy="320040"/>
          </a:xfrm>
          <a:prstGeom prst="rect">
            <a:avLst/>
          </a:prstGeom>
          <a:noFill/>
          <a:ln/>
        </p:spPr>
        <p:txBody>
          <a:bodyPr wrap="square" rtlCol="0" anchor="ctr"/>
          <a:lstStyle/>
          <a:p>
            <a:pPr marL="0" indent="0">
              <a:buNone/>
            </a:pPr>
            <a:r>
              <a:rPr lang="en-US" sz="1300" b="1" dirty="0">
                <a:solidFill>
                  <a:srgbClr val="5F259F"/>
                </a:solidFill>
                <a:latin typeface="Calibri" pitchFamily="34" charset="0"/>
                <a:ea typeface="Calibri" pitchFamily="34" charset="-122"/>
                <a:cs typeface="Calibri" pitchFamily="34" charset="-120"/>
              </a:rPr>
              <a:t>Workflow</a:t>
            </a:r>
            <a:endParaRPr lang="en-US" sz="1300" dirty="0"/>
          </a:p>
        </p:txBody>
      </p:sp>
      <p:sp>
        <p:nvSpPr>
          <p:cNvPr id="6" name="Shape 4"/>
          <p:cNvSpPr/>
          <p:nvPr/>
        </p:nvSpPr>
        <p:spPr>
          <a:xfrm>
            <a:off x="548640" y="3520440"/>
            <a:ext cx="896112" cy="548640"/>
          </a:xfrm>
          <a:prstGeom prst="roundRect">
            <a:avLst>
              <a:gd name="adj" fmla="val 10000"/>
            </a:avLst>
          </a:prstGeom>
          <a:solidFill>
            <a:srgbClr val="5F259F"/>
          </a:solidFill>
          <a:ln/>
        </p:spPr>
        <p:txBody>
          <a:bodyPr/>
          <a:lstStyle/>
          <a:p>
            <a:endParaRPr lang="en-IN"/>
          </a:p>
        </p:txBody>
      </p:sp>
      <p:sp>
        <p:nvSpPr>
          <p:cNvPr id="7" name="Text 5"/>
          <p:cNvSpPr/>
          <p:nvPr/>
        </p:nvSpPr>
        <p:spPr>
          <a:xfrm>
            <a:off x="502920" y="3520440"/>
            <a:ext cx="987552" cy="54864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Raw Data</a:t>
            </a:r>
            <a:endParaRPr lang="en-US" sz="800" dirty="0"/>
          </a:p>
        </p:txBody>
      </p:sp>
      <p:sp>
        <p:nvSpPr>
          <p:cNvPr id="8" name="Text 6"/>
          <p:cNvSpPr/>
          <p:nvPr/>
        </p:nvSpPr>
        <p:spPr>
          <a:xfrm>
            <a:off x="1444752" y="3493008"/>
            <a:ext cx="201168" cy="548640"/>
          </a:xfrm>
          <a:prstGeom prst="rect">
            <a:avLst/>
          </a:prstGeom>
          <a:noFill/>
          <a:ln/>
        </p:spPr>
        <p:txBody>
          <a:bodyPr wrap="square" rtlCol="0" anchor="ctr"/>
          <a:lstStyle/>
          <a:p>
            <a:pPr marL="0" indent="0" algn="ctr">
              <a:buNone/>
            </a:pPr>
            <a:r>
              <a:rPr lang="en-US" sz="1300" dirty="0">
                <a:solidFill>
                  <a:srgbClr val="6E6478"/>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1645920" y="3520440"/>
            <a:ext cx="896112" cy="548640"/>
          </a:xfrm>
          <a:prstGeom prst="roundRect">
            <a:avLst>
              <a:gd name="adj" fmla="val 10000"/>
            </a:avLst>
          </a:prstGeom>
          <a:solidFill>
            <a:srgbClr val="5F259F"/>
          </a:solidFill>
          <a:ln/>
        </p:spPr>
        <p:txBody>
          <a:bodyPr/>
          <a:lstStyle/>
          <a:p>
            <a:endParaRPr lang="en-IN"/>
          </a:p>
        </p:txBody>
      </p:sp>
      <p:sp>
        <p:nvSpPr>
          <p:cNvPr id="10" name="Text 8"/>
          <p:cNvSpPr/>
          <p:nvPr/>
        </p:nvSpPr>
        <p:spPr>
          <a:xfrm>
            <a:off x="1600200" y="3520440"/>
            <a:ext cx="987552" cy="54864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Cleaning &amp; Flags</a:t>
            </a:r>
            <a:endParaRPr lang="en-US" sz="800" dirty="0"/>
          </a:p>
        </p:txBody>
      </p:sp>
      <p:sp>
        <p:nvSpPr>
          <p:cNvPr id="11" name="Text 9"/>
          <p:cNvSpPr/>
          <p:nvPr/>
        </p:nvSpPr>
        <p:spPr>
          <a:xfrm>
            <a:off x="2542032" y="3493008"/>
            <a:ext cx="201168" cy="548640"/>
          </a:xfrm>
          <a:prstGeom prst="rect">
            <a:avLst/>
          </a:prstGeom>
          <a:noFill/>
          <a:ln/>
        </p:spPr>
        <p:txBody>
          <a:bodyPr wrap="square" rtlCol="0" anchor="ctr"/>
          <a:lstStyle/>
          <a:p>
            <a:pPr marL="0" indent="0" algn="ctr">
              <a:buNone/>
            </a:pPr>
            <a:r>
              <a:rPr lang="en-US" sz="1300" dirty="0">
                <a:solidFill>
                  <a:srgbClr val="6E6478"/>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2743200" y="3520440"/>
            <a:ext cx="896112" cy="548640"/>
          </a:xfrm>
          <a:prstGeom prst="roundRect">
            <a:avLst>
              <a:gd name="adj" fmla="val 10000"/>
            </a:avLst>
          </a:prstGeom>
          <a:solidFill>
            <a:srgbClr val="5F259F"/>
          </a:solidFill>
          <a:ln/>
        </p:spPr>
        <p:txBody>
          <a:bodyPr/>
          <a:lstStyle/>
          <a:p>
            <a:endParaRPr lang="en-IN"/>
          </a:p>
        </p:txBody>
      </p:sp>
      <p:sp>
        <p:nvSpPr>
          <p:cNvPr id="13" name="Text 11"/>
          <p:cNvSpPr/>
          <p:nvPr/>
        </p:nvSpPr>
        <p:spPr>
          <a:xfrm>
            <a:off x="2697480" y="3520440"/>
            <a:ext cx="987552" cy="54864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Formulas &amp; KPIs</a:t>
            </a:r>
            <a:endParaRPr lang="en-US" sz="800" dirty="0"/>
          </a:p>
        </p:txBody>
      </p:sp>
      <p:sp>
        <p:nvSpPr>
          <p:cNvPr id="14" name="Text 12"/>
          <p:cNvSpPr/>
          <p:nvPr/>
        </p:nvSpPr>
        <p:spPr>
          <a:xfrm>
            <a:off x="3639312" y="3493008"/>
            <a:ext cx="201168" cy="548640"/>
          </a:xfrm>
          <a:prstGeom prst="rect">
            <a:avLst/>
          </a:prstGeom>
          <a:noFill/>
          <a:ln/>
        </p:spPr>
        <p:txBody>
          <a:bodyPr wrap="square" rtlCol="0" anchor="ctr"/>
          <a:lstStyle/>
          <a:p>
            <a:pPr marL="0" indent="0" algn="ctr">
              <a:buNone/>
            </a:pPr>
            <a:r>
              <a:rPr lang="en-US" sz="1300" dirty="0">
                <a:solidFill>
                  <a:srgbClr val="6E6478"/>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3840480" y="3520440"/>
            <a:ext cx="896112" cy="548640"/>
          </a:xfrm>
          <a:prstGeom prst="roundRect">
            <a:avLst>
              <a:gd name="adj" fmla="val 10000"/>
            </a:avLst>
          </a:prstGeom>
          <a:solidFill>
            <a:srgbClr val="5F259F"/>
          </a:solidFill>
          <a:ln/>
        </p:spPr>
        <p:txBody>
          <a:bodyPr/>
          <a:lstStyle/>
          <a:p>
            <a:endParaRPr lang="en-IN"/>
          </a:p>
        </p:txBody>
      </p:sp>
      <p:sp>
        <p:nvSpPr>
          <p:cNvPr id="16" name="Text 14"/>
          <p:cNvSpPr/>
          <p:nvPr/>
        </p:nvSpPr>
        <p:spPr>
          <a:xfrm>
            <a:off x="3794760" y="3520440"/>
            <a:ext cx="987552" cy="54864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Pivot Tables</a:t>
            </a:r>
            <a:endParaRPr lang="en-US" sz="800" dirty="0"/>
          </a:p>
        </p:txBody>
      </p:sp>
      <p:sp>
        <p:nvSpPr>
          <p:cNvPr id="17" name="Text 15"/>
          <p:cNvSpPr/>
          <p:nvPr/>
        </p:nvSpPr>
        <p:spPr>
          <a:xfrm>
            <a:off x="4736592" y="3493008"/>
            <a:ext cx="201168" cy="548640"/>
          </a:xfrm>
          <a:prstGeom prst="rect">
            <a:avLst/>
          </a:prstGeom>
          <a:noFill/>
          <a:ln/>
        </p:spPr>
        <p:txBody>
          <a:bodyPr wrap="square" rtlCol="0" anchor="ctr"/>
          <a:lstStyle/>
          <a:p>
            <a:pPr marL="0" indent="0" algn="ctr">
              <a:buNone/>
            </a:pPr>
            <a:r>
              <a:rPr lang="en-US" sz="1300" dirty="0">
                <a:solidFill>
                  <a:srgbClr val="6E6478"/>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4937760" y="3520440"/>
            <a:ext cx="896112" cy="548640"/>
          </a:xfrm>
          <a:prstGeom prst="roundRect">
            <a:avLst>
              <a:gd name="adj" fmla="val 10000"/>
            </a:avLst>
          </a:prstGeom>
          <a:solidFill>
            <a:srgbClr val="F2A900"/>
          </a:solidFill>
          <a:ln/>
        </p:spPr>
        <p:txBody>
          <a:bodyPr/>
          <a:lstStyle/>
          <a:p>
            <a:endParaRPr lang="en-IN"/>
          </a:p>
        </p:txBody>
      </p:sp>
      <p:sp>
        <p:nvSpPr>
          <p:cNvPr id="19" name="Text 17"/>
          <p:cNvSpPr/>
          <p:nvPr/>
        </p:nvSpPr>
        <p:spPr>
          <a:xfrm>
            <a:off x="4892040" y="3520440"/>
            <a:ext cx="987552" cy="548640"/>
          </a:xfrm>
          <a:prstGeom prst="rect">
            <a:avLst/>
          </a:prstGeom>
          <a:noFill/>
          <a:ln/>
        </p:spPr>
        <p:txBody>
          <a:bodyPr wrap="square" rtlCol="0" anchor="ctr"/>
          <a:lstStyle/>
          <a:p>
            <a:pPr marL="0" indent="0" algn="ctr">
              <a:buNone/>
            </a:pPr>
            <a:r>
              <a:rPr lang="en-US" sz="800" b="1" dirty="0">
                <a:solidFill>
                  <a:srgbClr val="2B1B3D"/>
                </a:solidFill>
                <a:latin typeface="Calibri" pitchFamily="34" charset="0"/>
                <a:ea typeface="Calibri" pitchFamily="34" charset="-122"/>
                <a:cs typeface="Calibri" pitchFamily="34" charset="-120"/>
              </a:rPr>
              <a:t>Dashboard</a:t>
            </a:r>
            <a:endParaRPr lang="en-US" sz="800" dirty="0"/>
          </a:p>
        </p:txBody>
      </p:sp>
      <p:sp>
        <p:nvSpPr>
          <p:cNvPr id="20" name="Shape 18"/>
          <p:cNvSpPr/>
          <p:nvPr/>
        </p:nvSpPr>
        <p:spPr>
          <a:xfrm>
            <a:off x="6492240" y="1463040"/>
            <a:ext cx="5166360" cy="960120"/>
          </a:xfrm>
          <a:prstGeom prst="roundRect">
            <a:avLst>
              <a:gd name="adj" fmla="val 7619"/>
            </a:avLst>
          </a:prstGeom>
          <a:solidFill>
            <a:srgbClr val="3A1760"/>
          </a:solidFill>
          <a:ln/>
        </p:spPr>
        <p:txBody>
          <a:bodyPr/>
          <a:lstStyle/>
          <a:p>
            <a:endParaRPr lang="en-IN"/>
          </a:p>
        </p:txBody>
      </p:sp>
      <p:sp>
        <p:nvSpPr>
          <p:cNvPr id="21" name="Text 19"/>
          <p:cNvSpPr/>
          <p:nvPr/>
        </p:nvSpPr>
        <p:spPr>
          <a:xfrm>
            <a:off x="6720840" y="1536192"/>
            <a:ext cx="2377440" cy="813816"/>
          </a:xfrm>
          <a:prstGeom prst="rect">
            <a:avLst/>
          </a:prstGeom>
          <a:noFill/>
          <a:ln/>
        </p:spPr>
        <p:txBody>
          <a:bodyPr wrap="square" rtlCol="0" anchor="ctr"/>
          <a:lstStyle/>
          <a:p>
            <a:pPr marL="0" indent="0">
              <a:buNone/>
            </a:pPr>
            <a:r>
              <a:rPr lang="en-US" sz="2600" b="1" dirty="0">
                <a:solidFill>
                  <a:srgbClr val="F2A900"/>
                </a:solidFill>
                <a:latin typeface="Cambria" pitchFamily="34" charset="0"/>
                <a:ea typeface="Cambria" pitchFamily="34" charset="-122"/>
                <a:cs typeface="Cambria" pitchFamily="34" charset="-120"/>
              </a:rPr>
              <a:t>606</a:t>
            </a:r>
            <a:endParaRPr lang="en-US" sz="2600" dirty="0"/>
          </a:p>
        </p:txBody>
      </p:sp>
      <p:sp>
        <p:nvSpPr>
          <p:cNvPr id="22" name="Text 20"/>
          <p:cNvSpPr/>
          <p:nvPr/>
        </p:nvSpPr>
        <p:spPr>
          <a:xfrm>
            <a:off x="9144000" y="1463040"/>
            <a:ext cx="2331720" cy="9601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Total Students</a:t>
            </a:r>
            <a:endParaRPr lang="en-US" sz="1300" dirty="0"/>
          </a:p>
        </p:txBody>
      </p:sp>
      <p:sp>
        <p:nvSpPr>
          <p:cNvPr id="23" name="Shape 21"/>
          <p:cNvSpPr/>
          <p:nvPr/>
        </p:nvSpPr>
        <p:spPr>
          <a:xfrm>
            <a:off x="6492240" y="2587752"/>
            <a:ext cx="5166360" cy="960120"/>
          </a:xfrm>
          <a:prstGeom prst="roundRect">
            <a:avLst>
              <a:gd name="adj" fmla="val 7619"/>
            </a:avLst>
          </a:prstGeom>
          <a:solidFill>
            <a:srgbClr val="3A1760"/>
          </a:solidFill>
          <a:ln/>
        </p:spPr>
        <p:txBody>
          <a:bodyPr/>
          <a:lstStyle/>
          <a:p>
            <a:endParaRPr lang="en-IN"/>
          </a:p>
        </p:txBody>
      </p:sp>
      <p:sp>
        <p:nvSpPr>
          <p:cNvPr id="24" name="Text 22"/>
          <p:cNvSpPr/>
          <p:nvPr/>
        </p:nvSpPr>
        <p:spPr>
          <a:xfrm>
            <a:off x="6720840" y="2660904"/>
            <a:ext cx="2377440" cy="813816"/>
          </a:xfrm>
          <a:prstGeom prst="rect">
            <a:avLst/>
          </a:prstGeom>
          <a:noFill/>
          <a:ln/>
        </p:spPr>
        <p:txBody>
          <a:bodyPr wrap="square" rtlCol="0" anchor="ctr"/>
          <a:lstStyle/>
          <a:p>
            <a:pPr marL="0" indent="0">
              <a:buNone/>
            </a:pPr>
            <a:r>
              <a:rPr lang="en-US" sz="2600" b="1" dirty="0">
                <a:solidFill>
                  <a:srgbClr val="F2A900"/>
                </a:solidFill>
                <a:latin typeface="Cambria" pitchFamily="34" charset="0"/>
                <a:ea typeface="Cambria" pitchFamily="34" charset="-122"/>
                <a:cs typeface="Cambria" pitchFamily="34" charset="-120"/>
              </a:rPr>
              <a:t>₹ 4.56 Cr</a:t>
            </a:r>
            <a:endParaRPr lang="en-US" sz="2600" dirty="0"/>
          </a:p>
        </p:txBody>
      </p:sp>
      <p:sp>
        <p:nvSpPr>
          <p:cNvPr id="25" name="Text 23"/>
          <p:cNvSpPr/>
          <p:nvPr/>
        </p:nvSpPr>
        <p:spPr>
          <a:xfrm>
            <a:off x="9144000" y="2587752"/>
            <a:ext cx="2331720" cy="9601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Fees Collected</a:t>
            </a:r>
            <a:endParaRPr lang="en-US" sz="1300" dirty="0"/>
          </a:p>
        </p:txBody>
      </p:sp>
      <p:sp>
        <p:nvSpPr>
          <p:cNvPr id="26" name="Shape 24"/>
          <p:cNvSpPr/>
          <p:nvPr/>
        </p:nvSpPr>
        <p:spPr>
          <a:xfrm>
            <a:off x="6492240" y="3712464"/>
            <a:ext cx="5166360" cy="960120"/>
          </a:xfrm>
          <a:prstGeom prst="roundRect">
            <a:avLst>
              <a:gd name="adj" fmla="val 7619"/>
            </a:avLst>
          </a:prstGeom>
          <a:solidFill>
            <a:srgbClr val="3A1760"/>
          </a:solidFill>
          <a:ln/>
        </p:spPr>
        <p:txBody>
          <a:bodyPr/>
          <a:lstStyle/>
          <a:p>
            <a:endParaRPr lang="en-IN"/>
          </a:p>
        </p:txBody>
      </p:sp>
      <p:sp>
        <p:nvSpPr>
          <p:cNvPr id="27" name="Text 25"/>
          <p:cNvSpPr/>
          <p:nvPr/>
        </p:nvSpPr>
        <p:spPr>
          <a:xfrm>
            <a:off x="6720840" y="3785616"/>
            <a:ext cx="2377440" cy="813816"/>
          </a:xfrm>
          <a:prstGeom prst="rect">
            <a:avLst/>
          </a:prstGeom>
          <a:noFill/>
          <a:ln/>
        </p:spPr>
        <p:txBody>
          <a:bodyPr wrap="square" rtlCol="0" anchor="ctr"/>
          <a:lstStyle/>
          <a:p>
            <a:pPr marL="0" indent="0">
              <a:buNone/>
            </a:pPr>
            <a:r>
              <a:rPr lang="en-US" sz="2600" b="1" dirty="0">
                <a:solidFill>
                  <a:srgbClr val="F2A900"/>
                </a:solidFill>
                <a:latin typeface="Cambria" pitchFamily="34" charset="0"/>
                <a:ea typeface="Cambria" pitchFamily="34" charset="-122"/>
                <a:cs typeface="Cambria" pitchFamily="34" charset="-120"/>
              </a:rPr>
              <a:t>₹ 1.81 Cr</a:t>
            </a:r>
            <a:endParaRPr lang="en-US" sz="2600" dirty="0"/>
          </a:p>
        </p:txBody>
      </p:sp>
      <p:sp>
        <p:nvSpPr>
          <p:cNvPr id="28" name="Text 26"/>
          <p:cNvSpPr/>
          <p:nvPr/>
        </p:nvSpPr>
        <p:spPr>
          <a:xfrm>
            <a:off x="9144000" y="3712464"/>
            <a:ext cx="2331720" cy="9601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Fee Outstanding</a:t>
            </a:r>
            <a:endParaRPr lang="en-US" sz="1300" dirty="0"/>
          </a:p>
        </p:txBody>
      </p:sp>
      <p:sp>
        <p:nvSpPr>
          <p:cNvPr id="29" name="Shape 27"/>
          <p:cNvSpPr/>
          <p:nvPr/>
        </p:nvSpPr>
        <p:spPr>
          <a:xfrm>
            <a:off x="6492240" y="4837176"/>
            <a:ext cx="5166360" cy="960120"/>
          </a:xfrm>
          <a:prstGeom prst="roundRect">
            <a:avLst>
              <a:gd name="adj" fmla="val 7619"/>
            </a:avLst>
          </a:prstGeom>
          <a:solidFill>
            <a:srgbClr val="3A1760"/>
          </a:solidFill>
          <a:ln/>
        </p:spPr>
        <p:txBody>
          <a:bodyPr/>
          <a:lstStyle/>
          <a:p>
            <a:endParaRPr lang="en-IN"/>
          </a:p>
        </p:txBody>
      </p:sp>
      <p:sp>
        <p:nvSpPr>
          <p:cNvPr id="30" name="Text 28"/>
          <p:cNvSpPr/>
          <p:nvPr/>
        </p:nvSpPr>
        <p:spPr>
          <a:xfrm>
            <a:off x="6720840" y="4910328"/>
            <a:ext cx="2377440" cy="813816"/>
          </a:xfrm>
          <a:prstGeom prst="rect">
            <a:avLst/>
          </a:prstGeom>
          <a:noFill/>
          <a:ln/>
        </p:spPr>
        <p:txBody>
          <a:bodyPr wrap="square" rtlCol="0" anchor="ctr"/>
          <a:lstStyle/>
          <a:p>
            <a:pPr marL="0" indent="0">
              <a:buNone/>
            </a:pPr>
            <a:r>
              <a:rPr lang="en-US" sz="2600" b="1" dirty="0">
                <a:solidFill>
                  <a:srgbClr val="F2A900"/>
                </a:solidFill>
                <a:latin typeface="Cambria" pitchFamily="34" charset="0"/>
                <a:ea typeface="Cambria" pitchFamily="34" charset="-122"/>
                <a:cs typeface="Cambria" pitchFamily="34" charset="-120"/>
              </a:rPr>
              <a:t>26,100.9</a:t>
            </a:r>
            <a:endParaRPr lang="en-US" sz="2600" dirty="0"/>
          </a:p>
        </p:txBody>
      </p:sp>
      <p:sp>
        <p:nvSpPr>
          <p:cNvPr id="31" name="Text 29"/>
          <p:cNvSpPr/>
          <p:nvPr/>
        </p:nvSpPr>
        <p:spPr>
          <a:xfrm>
            <a:off x="9144000" y="4837176"/>
            <a:ext cx="2331720" cy="9601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Study Hours Logged</a:t>
            </a:r>
            <a:endParaRPr lang="en-US" sz="1300" dirty="0"/>
          </a:p>
        </p:txBody>
      </p:sp>
      <p:sp>
        <p:nvSpPr>
          <p:cNvPr id="32" name="Text 3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478"/>
                </a:solidFill>
                <a:latin typeface="Calibri" pitchFamily="34" charset="0"/>
                <a:ea typeface="Calibri" pitchFamily="34" charset="-122"/>
                <a:cs typeface="Calibri" pitchFamily="34" charset="-120"/>
              </a:rPr>
              <a:t>BYJU'S  |  Learning Analytics Dashboard</a:t>
            </a:r>
            <a:endParaRPr lang="en-US" sz="900" dirty="0"/>
          </a:p>
        </p:txBody>
      </p:sp>
      <p:sp>
        <p:nvSpPr>
          <p:cNvPr id="33" name="Text 31"/>
          <p:cNvSpPr/>
          <p:nvPr/>
        </p:nvSpPr>
        <p:spPr>
          <a:xfrm>
            <a:off x="11521440" y="6519672"/>
            <a:ext cx="365760" cy="274320"/>
          </a:xfrm>
          <a:prstGeom prst="rect">
            <a:avLst/>
          </a:prstGeom>
          <a:noFill/>
          <a:ln/>
        </p:spPr>
        <p:txBody>
          <a:bodyPr wrap="square" rtlCol="0" anchor="ctr"/>
          <a:lstStyle/>
          <a:p>
            <a:pPr marL="0" indent="0" algn="r">
              <a:buNone/>
            </a:pPr>
            <a:r>
              <a:rPr lang="en-US" sz="900" dirty="0">
                <a:solidFill>
                  <a:srgbClr val="6E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5F259F"/>
                </a:solidFill>
                <a:latin typeface="Calibri" pitchFamily="34" charset="0"/>
                <a:ea typeface="Calibri" pitchFamily="34" charset="-122"/>
                <a:cs typeface="Calibri" pitchFamily="34" charset="-120"/>
              </a:rPr>
              <a:t>DATA CLEANING</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2B1B3D"/>
                </a:solidFill>
                <a:latin typeface="Cambria" pitchFamily="34" charset="0"/>
                <a:ea typeface="Cambria" pitchFamily="34" charset="-122"/>
                <a:cs typeface="Cambria" pitchFamily="34" charset="-120"/>
              </a:rPr>
              <a:t>A Rule-Based Data Quality Framework</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marL="0" indent="0">
              <a:buNone/>
            </a:pPr>
            <a:r>
              <a:rPr lang="en-US" sz="1250" dirty="0">
                <a:solidFill>
                  <a:srgbClr val="6E6478"/>
                </a:solidFill>
                <a:latin typeface="Calibri" pitchFamily="34" charset="0"/>
                <a:ea typeface="Calibri" pitchFamily="34" charset="-122"/>
                <a:cs typeface="Calibri" pitchFamily="34" charset="-120"/>
              </a:rPr>
              <a:t>Every record carries a clean/original flag and a duplicate check, rolled up into a single Row Quality Flag — so analysts know at a glance which rows are trustworthy, imputed, or need review.</a:t>
            </a:r>
            <a:endParaRPr lang="en-US" sz="1250" dirty="0"/>
          </a:p>
        </p:txBody>
      </p:sp>
      <p:pic>
        <p:nvPicPr>
          <p:cNvPr id="5" name="Image 0" descr="/home/claude/byjus_ppt/conditional_formatting.png"/>
          <p:cNvPicPr>
            <a:picLocks noChangeAspect="1"/>
          </p:cNvPicPr>
          <p:nvPr/>
        </p:nvPicPr>
        <p:blipFill>
          <a:blip r:embed="rId3"/>
          <a:stretch>
            <a:fillRect/>
          </a:stretch>
        </p:blipFill>
        <p:spPr>
          <a:xfrm>
            <a:off x="548640" y="2011680"/>
            <a:ext cx="11064240" cy="2871216"/>
          </a:xfrm>
          <a:prstGeom prst="rect">
            <a:avLst/>
          </a:prstGeom>
        </p:spPr>
      </p:pic>
      <p:sp>
        <p:nvSpPr>
          <p:cNvPr id="6" name="Shape 3"/>
          <p:cNvSpPr/>
          <p:nvPr/>
        </p:nvSpPr>
        <p:spPr>
          <a:xfrm>
            <a:off x="548640" y="2011680"/>
            <a:ext cx="11064240" cy="2871216"/>
          </a:xfrm>
          <a:prstGeom prst="rect">
            <a:avLst/>
          </a:prstGeom>
          <a:ln w="12700">
            <a:solidFill>
              <a:srgbClr val="D8CCEE"/>
            </a:solidFill>
            <a:prstDash val="solid"/>
          </a:ln>
        </p:spPr>
        <p:txBody>
          <a:bodyPr/>
          <a:lstStyle/>
          <a:p>
            <a:endParaRPr lang="en-IN"/>
          </a:p>
        </p:txBody>
      </p:sp>
      <p:sp>
        <p:nvSpPr>
          <p:cNvPr id="7" name="Shape 4"/>
          <p:cNvSpPr/>
          <p:nvPr/>
        </p:nvSpPr>
        <p:spPr>
          <a:xfrm>
            <a:off x="548640" y="5138928"/>
            <a:ext cx="201168" cy="201168"/>
          </a:xfrm>
          <a:prstGeom prst="rect">
            <a:avLst/>
          </a:prstGeom>
          <a:solidFill>
            <a:srgbClr val="F2A900"/>
          </a:solidFill>
          <a:ln/>
        </p:spPr>
        <p:txBody>
          <a:bodyPr/>
          <a:lstStyle/>
          <a:p>
            <a:endParaRPr lang="en-IN"/>
          </a:p>
        </p:txBody>
      </p:sp>
      <p:sp>
        <p:nvSpPr>
          <p:cNvPr id="8" name="Text 5"/>
          <p:cNvSpPr/>
          <p:nvPr/>
        </p:nvSpPr>
        <p:spPr>
          <a:xfrm>
            <a:off x="841248" y="5074920"/>
            <a:ext cx="3566160" cy="365760"/>
          </a:xfrm>
          <a:prstGeom prst="rect">
            <a:avLst/>
          </a:prstGeom>
          <a:noFill/>
          <a:ln/>
        </p:spPr>
        <p:txBody>
          <a:bodyPr wrap="square" rtlCol="0" anchor="ctr"/>
          <a:lstStyle/>
          <a:p>
            <a:pPr marL="0" indent="0">
              <a:buNone/>
            </a:pPr>
            <a:r>
              <a:rPr lang="en-US" sz="1000" dirty="0">
                <a:solidFill>
                  <a:srgbClr val="2B1B3D"/>
                </a:solidFill>
                <a:latin typeface="Calibri" pitchFamily="34" charset="0"/>
                <a:ea typeface="Calibri" pitchFamily="34" charset="-122"/>
                <a:cs typeface="Calibri" pitchFamily="34" charset="-120"/>
              </a:rPr>
              <a:t>Imputed — missing value replaced with a valid estimate</a:t>
            </a:r>
            <a:endParaRPr lang="en-US" sz="1000" dirty="0"/>
          </a:p>
        </p:txBody>
      </p:sp>
      <p:sp>
        <p:nvSpPr>
          <p:cNvPr id="9" name="Shape 6"/>
          <p:cNvSpPr/>
          <p:nvPr/>
        </p:nvSpPr>
        <p:spPr>
          <a:xfrm>
            <a:off x="4343400" y="5138928"/>
            <a:ext cx="201168" cy="201168"/>
          </a:xfrm>
          <a:prstGeom prst="rect">
            <a:avLst/>
          </a:prstGeom>
          <a:solidFill>
            <a:srgbClr val="7BC97E"/>
          </a:solidFill>
          <a:ln/>
        </p:spPr>
        <p:txBody>
          <a:bodyPr/>
          <a:lstStyle/>
          <a:p>
            <a:endParaRPr lang="en-IN"/>
          </a:p>
        </p:txBody>
      </p:sp>
      <p:sp>
        <p:nvSpPr>
          <p:cNvPr id="10" name="Text 7"/>
          <p:cNvSpPr/>
          <p:nvPr/>
        </p:nvSpPr>
        <p:spPr>
          <a:xfrm>
            <a:off x="4636008" y="5074920"/>
            <a:ext cx="3566160" cy="365760"/>
          </a:xfrm>
          <a:prstGeom prst="rect">
            <a:avLst/>
          </a:prstGeom>
          <a:noFill/>
          <a:ln/>
        </p:spPr>
        <p:txBody>
          <a:bodyPr wrap="square" rtlCol="0" anchor="ctr"/>
          <a:lstStyle/>
          <a:p>
            <a:pPr marL="0" indent="0">
              <a:buNone/>
            </a:pPr>
            <a:r>
              <a:rPr lang="en-US" sz="1000" dirty="0">
                <a:solidFill>
                  <a:srgbClr val="2B1B3D"/>
                </a:solidFill>
                <a:latin typeface="Calibri" pitchFamily="34" charset="0"/>
                <a:ea typeface="Calibri" pitchFamily="34" charset="-122"/>
                <a:cs typeface="Calibri" pitchFamily="34" charset="-120"/>
              </a:rPr>
              <a:t>Clean — passes all validation rules</a:t>
            </a:r>
            <a:endParaRPr lang="en-US" sz="1000" dirty="0"/>
          </a:p>
        </p:txBody>
      </p:sp>
      <p:sp>
        <p:nvSpPr>
          <p:cNvPr id="11" name="Shape 8"/>
          <p:cNvSpPr/>
          <p:nvPr/>
        </p:nvSpPr>
        <p:spPr>
          <a:xfrm>
            <a:off x="8138160" y="5138928"/>
            <a:ext cx="201168" cy="201168"/>
          </a:xfrm>
          <a:prstGeom prst="rect">
            <a:avLst/>
          </a:prstGeom>
          <a:solidFill>
            <a:srgbClr val="E8827E"/>
          </a:solidFill>
          <a:ln/>
        </p:spPr>
        <p:txBody>
          <a:bodyPr/>
          <a:lstStyle/>
          <a:p>
            <a:endParaRPr lang="en-IN"/>
          </a:p>
        </p:txBody>
      </p:sp>
      <p:sp>
        <p:nvSpPr>
          <p:cNvPr id="12" name="Text 9"/>
          <p:cNvSpPr/>
          <p:nvPr/>
        </p:nvSpPr>
        <p:spPr>
          <a:xfrm>
            <a:off x="8430768" y="5074920"/>
            <a:ext cx="3566160" cy="365760"/>
          </a:xfrm>
          <a:prstGeom prst="rect">
            <a:avLst/>
          </a:prstGeom>
          <a:noFill/>
          <a:ln/>
        </p:spPr>
        <p:txBody>
          <a:bodyPr wrap="square" rtlCol="0" anchor="ctr"/>
          <a:lstStyle/>
          <a:p>
            <a:pPr marL="0" indent="0">
              <a:buNone/>
            </a:pPr>
            <a:r>
              <a:rPr lang="en-US" sz="1000" dirty="0">
                <a:solidFill>
                  <a:srgbClr val="2B1B3D"/>
                </a:solidFill>
                <a:latin typeface="Calibri" pitchFamily="34" charset="0"/>
                <a:ea typeface="Calibri" pitchFamily="34" charset="-122"/>
                <a:cs typeface="Calibri" pitchFamily="34" charset="-120"/>
              </a:rPr>
              <a:t>Review-Duplicate — duplicate record flagged for review</a:t>
            </a:r>
            <a:endParaRPr lang="en-US" sz="1000" dirty="0"/>
          </a:p>
        </p:txBody>
      </p:sp>
      <p:sp>
        <p:nvSpPr>
          <p:cNvPr id="13" name="Text 1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478"/>
                </a:solidFill>
                <a:latin typeface="Calibri" pitchFamily="34" charset="0"/>
                <a:ea typeface="Calibri" pitchFamily="34" charset="-122"/>
                <a:cs typeface="Calibri" pitchFamily="34" charset="-120"/>
              </a:rPr>
              <a:t>BYJU'S  |  Learning Analytics Dashboard</a:t>
            </a:r>
            <a:endParaRPr lang="en-US" sz="900" dirty="0"/>
          </a:p>
        </p:txBody>
      </p:sp>
      <p:sp>
        <p:nvSpPr>
          <p:cNvPr id="14" name="Text 11"/>
          <p:cNvSpPr/>
          <p:nvPr/>
        </p:nvSpPr>
        <p:spPr>
          <a:xfrm>
            <a:off x="11521440" y="6519672"/>
            <a:ext cx="365760" cy="274320"/>
          </a:xfrm>
          <a:prstGeom prst="rect">
            <a:avLst/>
          </a:prstGeom>
          <a:noFill/>
          <a:ln/>
        </p:spPr>
        <p:txBody>
          <a:bodyPr wrap="square" rtlCol="0" anchor="ctr"/>
          <a:lstStyle/>
          <a:p>
            <a:pPr marL="0" indent="0" algn="r">
              <a:buNone/>
            </a:pPr>
            <a:r>
              <a:rPr lang="en-US" sz="900" dirty="0">
                <a:solidFill>
                  <a:srgbClr val="6E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5F259F"/>
                </a:solidFill>
                <a:latin typeface="Calibri" pitchFamily="34" charset="0"/>
                <a:ea typeface="Calibri" pitchFamily="34" charset="-122"/>
                <a:cs typeface="Calibri" pitchFamily="34" charset="-120"/>
              </a:rPr>
              <a:t>METHOD</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2B1B3D"/>
                </a:solidFill>
                <a:latin typeface="Cambria" pitchFamily="34" charset="0"/>
                <a:ea typeface="Cambria" pitchFamily="34" charset="-122"/>
                <a:cs typeface="Cambria" pitchFamily="34" charset="-120"/>
              </a:rPr>
              <a:t>Excel Formulas Behind the Clean Dataset</a:t>
            </a:r>
            <a:endParaRPr lang="en-US" sz="3000" dirty="0"/>
          </a:p>
        </p:txBody>
      </p:sp>
      <p:pic>
        <p:nvPicPr>
          <p:cNvPr id="4" name="Image 0" descr="/home/claude/byjus_ppt/formula_used_1.png"/>
          <p:cNvPicPr>
            <a:picLocks noChangeAspect="1"/>
          </p:cNvPicPr>
          <p:nvPr/>
        </p:nvPicPr>
        <p:blipFill>
          <a:blip r:embed="rId3"/>
          <a:stretch>
            <a:fillRect/>
          </a:stretch>
        </p:blipFill>
        <p:spPr>
          <a:xfrm>
            <a:off x="548640" y="1417320"/>
            <a:ext cx="6903720" cy="4142232"/>
          </a:xfrm>
          <a:prstGeom prst="rect">
            <a:avLst/>
          </a:prstGeom>
        </p:spPr>
      </p:pic>
      <p:sp>
        <p:nvSpPr>
          <p:cNvPr id="5" name="Shape 2"/>
          <p:cNvSpPr/>
          <p:nvPr/>
        </p:nvSpPr>
        <p:spPr>
          <a:xfrm>
            <a:off x="548640" y="1417320"/>
            <a:ext cx="6903720" cy="4142232"/>
          </a:xfrm>
          <a:prstGeom prst="rect">
            <a:avLst/>
          </a:prstGeom>
          <a:ln w="12700">
            <a:solidFill>
              <a:srgbClr val="D8CCEE"/>
            </a:solidFill>
            <a:prstDash val="solid"/>
          </a:ln>
        </p:spPr>
        <p:txBody>
          <a:bodyPr/>
          <a:lstStyle/>
          <a:p>
            <a:endParaRPr lang="en-IN"/>
          </a:p>
        </p:txBody>
      </p:sp>
      <p:sp>
        <p:nvSpPr>
          <p:cNvPr id="6" name="Shape 3"/>
          <p:cNvSpPr/>
          <p:nvPr/>
        </p:nvSpPr>
        <p:spPr>
          <a:xfrm>
            <a:off x="7726680" y="1417320"/>
            <a:ext cx="3931920" cy="4142232"/>
          </a:xfrm>
          <a:prstGeom prst="roundRect">
            <a:avLst>
              <a:gd name="adj" fmla="val 1860"/>
            </a:avLst>
          </a:prstGeom>
          <a:solidFill>
            <a:srgbClr val="F3ECFB"/>
          </a:solidFill>
          <a:ln/>
        </p:spPr>
        <p:txBody>
          <a:bodyPr/>
          <a:lstStyle/>
          <a:p>
            <a:endParaRPr lang="en-IN"/>
          </a:p>
        </p:txBody>
      </p:sp>
      <p:sp>
        <p:nvSpPr>
          <p:cNvPr id="7" name="Text 4"/>
          <p:cNvSpPr/>
          <p:nvPr/>
        </p:nvSpPr>
        <p:spPr>
          <a:xfrm>
            <a:off x="7955280" y="1627632"/>
            <a:ext cx="3474720" cy="320040"/>
          </a:xfrm>
          <a:prstGeom prst="rect">
            <a:avLst/>
          </a:prstGeom>
          <a:noFill/>
          <a:ln/>
        </p:spPr>
        <p:txBody>
          <a:bodyPr wrap="square" rtlCol="0" anchor="ctr"/>
          <a:lstStyle/>
          <a:p>
            <a:pPr marL="0" indent="0">
              <a:buNone/>
            </a:pPr>
            <a:r>
              <a:rPr lang="en-US" sz="1400" b="1" dirty="0">
                <a:solidFill>
                  <a:srgbClr val="5F259F"/>
                </a:solidFill>
                <a:latin typeface="Calibri" pitchFamily="34" charset="0"/>
                <a:ea typeface="Calibri" pitchFamily="34" charset="-122"/>
                <a:cs typeface="Calibri" pitchFamily="34" charset="-120"/>
              </a:rPr>
              <a:t>Why it matters</a:t>
            </a:r>
            <a:endParaRPr lang="en-US" sz="1400" dirty="0"/>
          </a:p>
        </p:txBody>
      </p:sp>
      <p:sp>
        <p:nvSpPr>
          <p:cNvPr id="8" name="Text 5"/>
          <p:cNvSpPr/>
          <p:nvPr/>
        </p:nvSpPr>
        <p:spPr>
          <a:xfrm>
            <a:off x="7955280" y="2011680"/>
            <a:ext cx="3520440" cy="3383280"/>
          </a:xfrm>
          <a:prstGeom prst="rect">
            <a:avLst/>
          </a:prstGeom>
          <a:noFill/>
          <a:ln/>
        </p:spPr>
        <p:txBody>
          <a:bodyPr wrap="square" rtlCol="0" anchor="t"/>
          <a:lstStyle/>
          <a:p>
            <a:pPr marL="342900" indent="-342900">
              <a:spcAft>
                <a:spcPts val="1000"/>
              </a:spcAft>
              <a:buSzPct val="100000"/>
              <a:buChar char="•"/>
            </a:pPr>
            <a:r>
              <a:rPr lang="en-US" sz="1150" dirty="0">
                <a:solidFill>
                  <a:srgbClr val="2B1B3D"/>
                </a:solidFill>
                <a:latin typeface="Calibri" pitchFamily="34" charset="0"/>
                <a:ea typeface="Calibri" pitchFamily="34" charset="-122"/>
                <a:cs typeface="Calibri" pitchFamily="34" charset="-120"/>
              </a:rPr>
              <a:t>UPPER(), TRIM() and CLEAN() standardise text and strip hidden characters</a:t>
            </a:r>
            <a:endParaRPr lang="en-US" sz="1150" dirty="0"/>
          </a:p>
          <a:p>
            <a:pPr marL="342900" indent="-342900">
              <a:spcAft>
                <a:spcPts val="1000"/>
              </a:spcAft>
              <a:buSzPct val="100000"/>
              <a:buChar char="•"/>
            </a:pPr>
            <a:r>
              <a:rPr lang="en-US" sz="1150" dirty="0">
                <a:solidFill>
                  <a:srgbClr val="2B1B3D"/>
                </a:solidFill>
                <a:latin typeface="Calibri" pitchFamily="34" charset="0"/>
                <a:ea typeface="Calibri" pitchFamily="34" charset="-122"/>
                <a:cs typeface="Calibri" pitchFamily="34" charset="-120"/>
              </a:rPr>
              <a:t>IFERROR() and IF()+AND() catch bad values and validate performance scores</a:t>
            </a:r>
            <a:endParaRPr lang="en-US" sz="1150" dirty="0"/>
          </a:p>
          <a:p>
            <a:pPr marL="342900" indent="-342900">
              <a:spcAft>
                <a:spcPts val="1000"/>
              </a:spcAft>
              <a:buSzPct val="100000"/>
              <a:buChar char="•"/>
            </a:pPr>
            <a:r>
              <a:rPr lang="en-US" sz="1150" dirty="0">
                <a:solidFill>
                  <a:srgbClr val="2B1B3D"/>
                </a:solidFill>
                <a:latin typeface="Calibri" pitchFamily="34" charset="0"/>
                <a:ea typeface="Calibri" pitchFamily="34" charset="-122"/>
                <a:cs typeface="Calibri" pitchFamily="34" charset="-120"/>
              </a:rPr>
              <a:t>COUNTIF() identifies duplicate student records automatically</a:t>
            </a:r>
            <a:endParaRPr lang="en-US" sz="1150" dirty="0"/>
          </a:p>
          <a:p>
            <a:pPr marL="342900" indent="-342900">
              <a:spcAft>
                <a:spcPts val="1000"/>
              </a:spcAft>
              <a:buSzPct val="100000"/>
              <a:buChar char="•"/>
            </a:pPr>
            <a:r>
              <a:rPr lang="en-US" sz="1150" dirty="0">
                <a:solidFill>
                  <a:srgbClr val="2B1B3D"/>
                </a:solidFill>
                <a:latin typeface="Calibri" pitchFamily="34" charset="0"/>
                <a:ea typeface="Calibri" pitchFamily="34" charset="-122"/>
                <a:cs typeface="Calibri" pitchFamily="34" charset="-120"/>
              </a:rPr>
              <a:t>SUBSTITUTE()+VALUE() converts currency text into usable numbers</a:t>
            </a:r>
            <a:endParaRPr lang="en-US" sz="1150" dirty="0"/>
          </a:p>
          <a:p>
            <a:pPr marL="342900" indent="-342900">
              <a:spcAft>
                <a:spcPts val="1000"/>
              </a:spcAft>
              <a:buSzPct val="100000"/>
              <a:buChar char="•"/>
            </a:pPr>
            <a:r>
              <a:rPr lang="en-US" sz="1150" dirty="0">
                <a:solidFill>
                  <a:srgbClr val="2B1B3D"/>
                </a:solidFill>
                <a:latin typeface="Calibri" pitchFamily="34" charset="0"/>
                <a:ea typeface="Calibri" pitchFamily="34" charset="-122"/>
                <a:cs typeface="Calibri" pitchFamily="34" charset="-120"/>
              </a:rPr>
              <a:t>TEXTBEFORE()/TEXTAFTER() extract clean text from mixed-value cells</a:t>
            </a:r>
            <a:endParaRPr lang="en-US" sz="1150" dirty="0"/>
          </a:p>
        </p:txBody>
      </p:sp>
      <p:sp>
        <p:nvSpPr>
          <p:cNvPr id="9" name="Text 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478"/>
                </a:solidFill>
                <a:latin typeface="Calibri" pitchFamily="34" charset="0"/>
                <a:ea typeface="Calibri" pitchFamily="34" charset="-122"/>
                <a:cs typeface="Calibri" pitchFamily="34" charset="-120"/>
              </a:rPr>
              <a:t>BYJU'S  |  Learning Analytics Dashboard</a:t>
            </a:r>
            <a:endParaRPr lang="en-US" sz="900" dirty="0"/>
          </a:p>
        </p:txBody>
      </p:sp>
      <p:sp>
        <p:nvSpPr>
          <p:cNvPr id="10" name="Text 7"/>
          <p:cNvSpPr/>
          <p:nvPr/>
        </p:nvSpPr>
        <p:spPr>
          <a:xfrm>
            <a:off x="11521440" y="6519672"/>
            <a:ext cx="365760" cy="274320"/>
          </a:xfrm>
          <a:prstGeom prst="rect">
            <a:avLst/>
          </a:prstGeom>
          <a:noFill/>
          <a:ln/>
        </p:spPr>
        <p:txBody>
          <a:bodyPr wrap="square" rtlCol="0" anchor="ctr"/>
          <a:lstStyle/>
          <a:p>
            <a:pPr marL="0" indent="0" algn="r">
              <a:buNone/>
            </a:pPr>
            <a:r>
              <a:rPr lang="en-US" sz="900" dirty="0">
                <a:solidFill>
                  <a:srgbClr val="6E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5F259F"/>
                </a:solidFill>
                <a:latin typeface="Calibri" pitchFamily="34" charset="0"/>
                <a:ea typeface="Calibri" pitchFamily="34" charset="-122"/>
                <a:cs typeface="Calibri" pitchFamily="34" charset="-120"/>
              </a:rPr>
              <a:t>METHOD</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2B1B3D"/>
                </a:solidFill>
                <a:latin typeface="Cambria" pitchFamily="34" charset="0"/>
                <a:ea typeface="Cambria" pitchFamily="34" charset="-122"/>
                <a:cs typeface="Cambria" pitchFamily="34" charset="-120"/>
              </a:rPr>
              <a:t>Formulas Powering the KPI Metrics</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marL="0" indent="0">
              <a:buNone/>
            </a:pPr>
            <a:r>
              <a:rPr lang="en-US" sz="1250" dirty="0">
                <a:solidFill>
                  <a:srgbClr val="6E6478"/>
                </a:solidFill>
                <a:latin typeface="Calibri" pitchFamily="34" charset="0"/>
                <a:ea typeface="Calibri" pitchFamily="34" charset="-122"/>
                <a:cs typeface="Calibri" pitchFamily="34" charset="-120"/>
              </a:rPr>
              <a:t>Once the data was clean, aggregate formulas turned individual records into the KPI metrics and course-level breakdowns shown on the dashboard.</a:t>
            </a:r>
            <a:endParaRPr lang="en-US" sz="1250" dirty="0"/>
          </a:p>
        </p:txBody>
      </p:sp>
      <p:pic>
        <p:nvPicPr>
          <p:cNvPr id="5" name="Image 0" descr="/home/claude/byjus_ppt/formula_used_2.png"/>
          <p:cNvPicPr>
            <a:picLocks noChangeAspect="1"/>
          </p:cNvPicPr>
          <p:nvPr/>
        </p:nvPicPr>
        <p:blipFill>
          <a:blip r:embed="rId3"/>
          <a:stretch>
            <a:fillRect/>
          </a:stretch>
        </p:blipFill>
        <p:spPr>
          <a:xfrm>
            <a:off x="914400" y="1965960"/>
            <a:ext cx="10332720" cy="4553712"/>
          </a:xfrm>
          <a:prstGeom prst="rect">
            <a:avLst/>
          </a:prstGeom>
        </p:spPr>
      </p:pic>
      <p:sp>
        <p:nvSpPr>
          <p:cNvPr id="6" name="Shape 3"/>
          <p:cNvSpPr/>
          <p:nvPr/>
        </p:nvSpPr>
        <p:spPr>
          <a:xfrm>
            <a:off x="914400" y="1965960"/>
            <a:ext cx="10332720" cy="4553712"/>
          </a:xfrm>
          <a:prstGeom prst="rect">
            <a:avLst/>
          </a:prstGeom>
          <a:ln w="12700">
            <a:solidFill>
              <a:srgbClr val="D8CCEE"/>
            </a:solidFill>
            <a:prstDash val="solid"/>
          </a:ln>
        </p:spPr>
        <p:txBody>
          <a:bodyPr/>
          <a:lstStyle/>
          <a:p>
            <a:endParaRPr lang="en-IN"/>
          </a:p>
        </p:txBody>
      </p:sp>
      <p:sp>
        <p:nvSpPr>
          <p:cNvPr id="7" name="Text 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478"/>
                </a:solidFill>
                <a:latin typeface="Calibri" pitchFamily="34" charset="0"/>
                <a:ea typeface="Calibri" pitchFamily="34" charset="-122"/>
                <a:cs typeface="Calibri" pitchFamily="34" charset="-120"/>
              </a:rPr>
              <a:t>BYJU'S  |  Learning Analytics Dashboard</a:t>
            </a:r>
            <a:endParaRPr lang="en-US" sz="900" dirty="0"/>
          </a:p>
        </p:txBody>
      </p:sp>
      <p:sp>
        <p:nvSpPr>
          <p:cNvPr id="8" name="Text 5"/>
          <p:cNvSpPr/>
          <p:nvPr/>
        </p:nvSpPr>
        <p:spPr>
          <a:xfrm>
            <a:off x="11521440" y="6519672"/>
            <a:ext cx="365760" cy="274320"/>
          </a:xfrm>
          <a:prstGeom prst="rect">
            <a:avLst/>
          </a:prstGeom>
          <a:noFill/>
          <a:ln/>
        </p:spPr>
        <p:txBody>
          <a:bodyPr wrap="square" rtlCol="0" anchor="ctr"/>
          <a:lstStyle/>
          <a:p>
            <a:pPr marL="0" indent="0" algn="r">
              <a:buNone/>
            </a:pPr>
            <a:r>
              <a:rPr lang="en-US" sz="900" dirty="0">
                <a:solidFill>
                  <a:srgbClr val="6E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5F259F"/>
                </a:solidFill>
                <a:latin typeface="Calibri" pitchFamily="34" charset="0"/>
                <a:ea typeface="Calibri" pitchFamily="34" charset="-122"/>
                <a:cs typeface="Calibri" pitchFamily="34" charset="-120"/>
              </a:rPr>
              <a:t>ANALYSIS</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2B1B3D"/>
                </a:solidFill>
                <a:latin typeface="Cambria" pitchFamily="34" charset="0"/>
                <a:ea typeface="Cambria" pitchFamily="34" charset="-122"/>
                <a:cs typeface="Cambria" pitchFamily="34" charset="-120"/>
              </a:rPr>
              <a:t>Pivot Tables: Course, State &amp; Learning-Mode Cuts</a:t>
            </a:r>
            <a:endParaRPr lang="en-US" sz="3000" dirty="0"/>
          </a:p>
        </p:txBody>
      </p:sp>
      <p:pic>
        <p:nvPicPr>
          <p:cNvPr id="4" name="Image 0" descr="/home/claude/byjus_ppt/pivot_tables.png"/>
          <p:cNvPicPr>
            <a:picLocks noChangeAspect="1"/>
          </p:cNvPicPr>
          <p:nvPr/>
        </p:nvPicPr>
        <p:blipFill>
          <a:blip r:embed="rId3"/>
          <a:stretch>
            <a:fillRect/>
          </a:stretch>
        </p:blipFill>
        <p:spPr>
          <a:xfrm>
            <a:off x="548640" y="1417320"/>
            <a:ext cx="11064240" cy="4992624"/>
          </a:xfrm>
          <a:prstGeom prst="rect">
            <a:avLst/>
          </a:prstGeom>
        </p:spPr>
      </p:pic>
      <p:sp>
        <p:nvSpPr>
          <p:cNvPr id="5" name="Shape 2"/>
          <p:cNvSpPr/>
          <p:nvPr/>
        </p:nvSpPr>
        <p:spPr>
          <a:xfrm>
            <a:off x="548640" y="1417320"/>
            <a:ext cx="11064240" cy="4992624"/>
          </a:xfrm>
          <a:prstGeom prst="rect">
            <a:avLst/>
          </a:prstGeom>
          <a:ln w="12700">
            <a:solidFill>
              <a:srgbClr val="D8CCEE"/>
            </a:solidFill>
            <a:prstDash val="solid"/>
          </a:ln>
        </p:spPr>
        <p:txBody>
          <a:bodyPr/>
          <a:lstStyle/>
          <a:p>
            <a:endParaRPr lang="en-IN"/>
          </a:p>
        </p:txBody>
      </p:sp>
      <p:sp>
        <p:nvSpPr>
          <p:cNvPr id="6" name="Text 3"/>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478"/>
                </a:solidFill>
                <a:latin typeface="Calibri" pitchFamily="34" charset="0"/>
                <a:ea typeface="Calibri" pitchFamily="34" charset="-122"/>
                <a:cs typeface="Calibri" pitchFamily="34" charset="-120"/>
              </a:rPr>
              <a:t>BYJU'S  |  Learning Analytics Dashboard</a:t>
            </a:r>
            <a:endParaRPr lang="en-US" sz="900" dirty="0"/>
          </a:p>
        </p:txBody>
      </p:sp>
      <p:sp>
        <p:nvSpPr>
          <p:cNvPr id="7" name="Text 4"/>
          <p:cNvSpPr/>
          <p:nvPr/>
        </p:nvSpPr>
        <p:spPr>
          <a:xfrm>
            <a:off x="11521440" y="6519672"/>
            <a:ext cx="365760" cy="274320"/>
          </a:xfrm>
          <a:prstGeom prst="rect">
            <a:avLst/>
          </a:prstGeom>
          <a:noFill/>
          <a:ln/>
        </p:spPr>
        <p:txBody>
          <a:bodyPr wrap="square" rtlCol="0" anchor="ctr"/>
          <a:lstStyle/>
          <a:p>
            <a:pPr marL="0" indent="0" algn="r">
              <a:buNone/>
            </a:pPr>
            <a:r>
              <a:rPr lang="en-US" sz="900" dirty="0">
                <a:solidFill>
                  <a:srgbClr val="6E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A1760"/>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F2A900"/>
                </a:solidFill>
                <a:latin typeface="Calibri" pitchFamily="34" charset="0"/>
                <a:ea typeface="Calibri" pitchFamily="34" charset="-122"/>
                <a:cs typeface="Calibri" pitchFamily="34" charset="-120"/>
              </a:rPr>
              <a:t>THE DASHBOARD</a:t>
            </a:r>
            <a:endParaRPr lang="en-US" sz="1200" dirty="0"/>
          </a:p>
        </p:txBody>
      </p:sp>
      <p:sp>
        <p:nvSpPr>
          <p:cNvPr id="3" name="Text 1"/>
          <p:cNvSpPr/>
          <p:nvPr/>
        </p:nvSpPr>
        <p:spPr>
          <a:xfrm>
            <a:off x="548640" y="566928"/>
            <a:ext cx="109728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 Single View for Leadership Decisions</a:t>
            </a:r>
            <a:endParaRPr lang="en-US" sz="2600" dirty="0"/>
          </a:p>
        </p:txBody>
      </p:sp>
      <p:pic>
        <p:nvPicPr>
          <p:cNvPr id="4" name="Image 0" descr="/home/claude/byjus_ppt/dashboard.png"/>
          <p:cNvPicPr>
            <a:picLocks noChangeAspect="1"/>
          </p:cNvPicPr>
          <p:nvPr/>
        </p:nvPicPr>
        <p:blipFill>
          <a:blip r:embed="rId3"/>
          <a:stretch>
            <a:fillRect/>
          </a:stretch>
        </p:blipFill>
        <p:spPr>
          <a:xfrm>
            <a:off x="548640" y="1325880"/>
            <a:ext cx="11064240" cy="5202936"/>
          </a:xfrm>
          <a:prstGeom prst="rect">
            <a:avLst/>
          </a:prstGeom>
        </p:spPr>
      </p:pic>
      <p:sp>
        <p:nvSpPr>
          <p:cNvPr id="5" name="Shape 2"/>
          <p:cNvSpPr/>
          <p:nvPr/>
        </p:nvSpPr>
        <p:spPr>
          <a:xfrm>
            <a:off x="548640" y="1325880"/>
            <a:ext cx="11064240" cy="5202936"/>
          </a:xfrm>
          <a:prstGeom prst="rect">
            <a:avLst/>
          </a:prstGeom>
          <a:ln w="15875">
            <a:solidFill>
              <a:srgbClr val="8A5FC2"/>
            </a:solidFill>
            <a:prstDash val="solid"/>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5F259F"/>
                </a:solidFill>
                <a:latin typeface="Calibri" pitchFamily="34" charset="0"/>
                <a:ea typeface="Calibri" pitchFamily="34" charset="-122"/>
                <a:cs typeface="Calibri" pitchFamily="34" charset="-120"/>
              </a:rPr>
              <a:t>INSIGHTS</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2B1B3D"/>
                </a:solidFill>
                <a:latin typeface="Cambria" pitchFamily="34" charset="0"/>
                <a:ea typeface="Cambria" pitchFamily="34" charset="-122"/>
                <a:cs typeface="Cambria" pitchFamily="34" charset="-120"/>
              </a:rPr>
              <a:t>What the Data Tells the Business</a:t>
            </a:r>
            <a:endParaRPr lang="en-US" sz="3000" dirty="0"/>
          </a:p>
        </p:txBody>
      </p:sp>
      <p:sp>
        <p:nvSpPr>
          <p:cNvPr id="4" name="Shape 2"/>
          <p:cNvSpPr/>
          <p:nvPr/>
        </p:nvSpPr>
        <p:spPr>
          <a:xfrm>
            <a:off x="548640" y="1463040"/>
            <a:ext cx="3529584" cy="1874520"/>
          </a:xfrm>
          <a:prstGeom prst="roundRect">
            <a:avLst>
              <a:gd name="adj" fmla="val 3902"/>
            </a:avLst>
          </a:prstGeom>
          <a:solidFill>
            <a:srgbClr val="F3ECFB"/>
          </a:solidFill>
          <a:ln/>
        </p:spPr>
        <p:txBody>
          <a:bodyPr/>
          <a:lstStyle/>
          <a:p>
            <a:endParaRPr lang="en-IN"/>
          </a:p>
        </p:txBody>
      </p:sp>
      <p:sp>
        <p:nvSpPr>
          <p:cNvPr id="5" name="Shape 3"/>
          <p:cNvSpPr/>
          <p:nvPr/>
        </p:nvSpPr>
        <p:spPr>
          <a:xfrm>
            <a:off x="777240" y="1664208"/>
            <a:ext cx="457200" cy="457200"/>
          </a:xfrm>
          <a:prstGeom prst="roundRect">
            <a:avLst>
              <a:gd name="adj" fmla="val 50000"/>
            </a:avLst>
          </a:prstGeom>
          <a:solidFill>
            <a:srgbClr val="5F259F"/>
          </a:solidFill>
          <a:ln/>
        </p:spPr>
        <p:txBody>
          <a:bodyPr/>
          <a:lstStyle/>
          <a:p>
            <a:endParaRPr lang="en-IN"/>
          </a:p>
        </p:txBody>
      </p:sp>
      <p:sp>
        <p:nvSpPr>
          <p:cNvPr id="6" name="Text 4"/>
          <p:cNvSpPr/>
          <p:nvPr/>
        </p:nvSpPr>
        <p:spPr>
          <a:xfrm>
            <a:off x="777240" y="16642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777240" y="2240280"/>
            <a:ext cx="3072384" cy="320040"/>
          </a:xfrm>
          <a:prstGeom prst="rect">
            <a:avLst/>
          </a:prstGeom>
          <a:noFill/>
          <a:ln/>
        </p:spPr>
        <p:txBody>
          <a:bodyPr wrap="square" rtlCol="0" anchor="ctr"/>
          <a:lstStyle/>
          <a:p>
            <a:pPr marL="0" indent="0">
              <a:buNone/>
            </a:pPr>
            <a:r>
              <a:rPr lang="en-US" sz="1300" b="1" dirty="0">
                <a:solidFill>
                  <a:srgbClr val="5F259F"/>
                </a:solidFill>
                <a:latin typeface="Calibri" pitchFamily="34" charset="0"/>
                <a:ea typeface="Calibri" pitchFamily="34" charset="-122"/>
                <a:cs typeface="Calibri" pitchFamily="34" charset="-120"/>
              </a:rPr>
              <a:t>Fee Outstanding</a:t>
            </a:r>
            <a:endParaRPr lang="en-US" sz="1300" dirty="0"/>
          </a:p>
        </p:txBody>
      </p:sp>
      <p:sp>
        <p:nvSpPr>
          <p:cNvPr id="8" name="Text 6"/>
          <p:cNvSpPr/>
          <p:nvPr/>
        </p:nvSpPr>
        <p:spPr>
          <a:xfrm>
            <a:off x="777240" y="2542032"/>
            <a:ext cx="3072384" cy="685800"/>
          </a:xfrm>
          <a:prstGeom prst="rect">
            <a:avLst/>
          </a:prstGeom>
          <a:noFill/>
          <a:ln/>
        </p:spPr>
        <p:txBody>
          <a:bodyPr wrap="square" rtlCol="0" anchor="ctr"/>
          <a:lstStyle/>
          <a:p>
            <a:pPr marL="0" indent="0">
              <a:lnSpc>
                <a:spcPct val="115000"/>
              </a:lnSpc>
              <a:buNone/>
            </a:pPr>
            <a:r>
              <a:rPr lang="en-US" sz="1050" dirty="0">
                <a:solidFill>
                  <a:srgbClr val="2B1B3D"/>
                </a:solidFill>
                <a:latin typeface="Calibri" pitchFamily="34" charset="0"/>
                <a:ea typeface="Calibri" pitchFamily="34" charset="-122"/>
                <a:cs typeface="Calibri" pitchFamily="34" charset="-120"/>
              </a:rPr>
              <a:t>₹1.81 Cr remains outstanding against ₹4.56 Cr collected — a 28% shortfall needing active follow-up.</a:t>
            </a:r>
            <a:endParaRPr lang="en-US" sz="1050" dirty="0"/>
          </a:p>
        </p:txBody>
      </p:sp>
      <p:sp>
        <p:nvSpPr>
          <p:cNvPr id="9" name="Shape 7"/>
          <p:cNvSpPr/>
          <p:nvPr/>
        </p:nvSpPr>
        <p:spPr>
          <a:xfrm>
            <a:off x="4325112" y="1463040"/>
            <a:ext cx="3529584" cy="1874520"/>
          </a:xfrm>
          <a:prstGeom prst="roundRect">
            <a:avLst>
              <a:gd name="adj" fmla="val 3902"/>
            </a:avLst>
          </a:prstGeom>
          <a:solidFill>
            <a:srgbClr val="F3ECFB"/>
          </a:solidFill>
          <a:ln/>
        </p:spPr>
        <p:txBody>
          <a:bodyPr/>
          <a:lstStyle/>
          <a:p>
            <a:endParaRPr lang="en-IN"/>
          </a:p>
        </p:txBody>
      </p:sp>
      <p:sp>
        <p:nvSpPr>
          <p:cNvPr id="10" name="Shape 8"/>
          <p:cNvSpPr/>
          <p:nvPr/>
        </p:nvSpPr>
        <p:spPr>
          <a:xfrm>
            <a:off x="4553712" y="1664208"/>
            <a:ext cx="457200" cy="457200"/>
          </a:xfrm>
          <a:prstGeom prst="roundRect">
            <a:avLst>
              <a:gd name="adj" fmla="val 50000"/>
            </a:avLst>
          </a:prstGeom>
          <a:solidFill>
            <a:srgbClr val="5F259F"/>
          </a:solidFill>
          <a:ln/>
        </p:spPr>
        <p:txBody>
          <a:bodyPr/>
          <a:lstStyle/>
          <a:p>
            <a:endParaRPr lang="en-IN"/>
          </a:p>
        </p:txBody>
      </p:sp>
      <p:sp>
        <p:nvSpPr>
          <p:cNvPr id="11" name="Text 9"/>
          <p:cNvSpPr/>
          <p:nvPr/>
        </p:nvSpPr>
        <p:spPr>
          <a:xfrm>
            <a:off x="4553712" y="16642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4553712" y="2240280"/>
            <a:ext cx="3072384" cy="320040"/>
          </a:xfrm>
          <a:prstGeom prst="rect">
            <a:avLst/>
          </a:prstGeom>
          <a:noFill/>
          <a:ln/>
        </p:spPr>
        <p:txBody>
          <a:bodyPr wrap="square" rtlCol="0" anchor="ctr"/>
          <a:lstStyle/>
          <a:p>
            <a:pPr marL="0" indent="0">
              <a:buNone/>
            </a:pPr>
            <a:r>
              <a:rPr lang="en-US" sz="1300" b="1" dirty="0">
                <a:solidFill>
                  <a:srgbClr val="5F259F"/>
                </a:solidFill>
                <a:latin typeface="Calibri" pitchFamily="34" charset="0"/>
                <a:ea typeface="Calibri" pitchFamily="34" charset="-122"/>
                <a:cs typeface="Calibri" pitchFamily="34" charset="-120"/>
              </a:rPr>
              <a:t>Course Demand</a:t>
            </a:r>
            <a:endParaRPr lang="en-US" sz="1300" dirty="0"/>
          </a:p>
        </p:txBody>
      </p:sp>
      <p:sp>
        <p:nvSpPr>
          <p:cNvPr id="13" name="Text 11"/>
          <p:cNvSpPr/>
          <p:nvPr/>
        </p:nvSpPr>
        <p:spPr>
          <a:xfrm>
            <a:off x="4553712" y="2542032"/>
            <a:ext cx="3072384" cy="685800"/>
          </a:xfrm>
          <a:prstGeom prst="rect">
            <a:avLst/>
          </a:prstGeom>
          <a:noFill/>
          <a:ln/>
        </p:spPr>
        <p:txBody>
          <a:bodyPr wrap="square" rtlCol="0" anchor="ctr"/>
          <a:lstStyle/>
          <a:p>
            <a:pPr marL="0" indent="0">
              <a:lnSpc>
                <a:spcPct val="115000"/>
              </a:lnSpc>
              <a:buNone/>
            </a:pPr>
            <a:r>
              <a:rPr lang="en-US" sz="1050" dirty="0">
                <a:solidFill>
                  <a:srgbClr val="2B1B3D"/>
                </a:solidFill>
                <a:latin typeface="Calibri" pitchFamily="34" charset="0"/>
                <a:ea typeface="Calibri" pitchFamily="34" charset="-122"/>
                <a:cs typeface="Calibri" pitchFamily="34" charset="-120"/>
              </a:rPr>
              <a:t>NEET Prep leads enrolment (100 students) and fee contribution (≈₹72.5 L), and also shows the highest average performance.</a:t>
            </a:r>
            <a:endParaRPr lang="en-US" sz="1050" dirty="0"/>
          </a:p>
        </p:txBody>
      </p:sp>
      <p:sp>
        <p:nvSpPr>
          <p:cNvPr id="14" name="Shape 12"/>
          <p:cNvSpPr/>
          <p:nvPr/>
        </p:nvSpPr>
        <p:spPr>
          <a:xfrm>
            <a:off x="8101584" y="1463040"/>
            <a:ext cx="3529584" cy="1874520"/>
          </a:xfrm>
          <a:prstGeom prst="roundRect">
            <a:avLst>
              <a:gd name="adj" fmla="val 3902"/>
            </a:avLst>
          </a:prstGeom>
          <a:solidFill>
            <a:srgbClr val="F3ECFB"/>
          </a:solidFill>
          <a:ln/>
        </p:spPr>
        <p:txBody>
          <a:bodyPr/>
          <a:lstStyle/>
          <a:p>
            <a:endParaRPr lang="en-IN"/>
          </a:p>
        </p:txBody>
      </p:sp>
      <p:sp>
        <p:nvSpPr>
          <p:cNvPr id="15" name="Shape 13"/>
          <p:cNvSpPr/>
          <p:nvPr/>
        </p:nvSpPr>
        <p:spPr>
          <a:xfrm>
            <a:off x="8330184" y="1664208"/>
            <a:ext cx="457200" cy="457200"/>
          </a:xfrm>
          <a:prstGeom prst="roundRect">
            <a:avLst>
              <a:gd name="adj" fmla="val 50000"/>
            </a:avLst>
          </a:prstGeom>
          <a:solidFill>
            <a:srgbClr val="5F259F"/>
          </a:solidFill>
          <a:ln/>
        </p:spPr>
        <p:txBody>
          <a:bodyPr/>
          <a:lstStyle/>
          <a:p>
            <a:endParaRPr lang="en-IN"/>
          </a:p>
        </p:txBody>
      </p:sp>
      <p:sp>
        <p:nvSpPr>
          <p:cNvPr id="16" name="Text 14"/>
          <p:cNvSpPr/>
          <p:nvPr/>
        </p:nvSpPr>
        <p:spPr>
          <a:xfrm>
            <a:off x="8330184" y="16642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330184" y="2240280"/>
            <a:ext cx="3072384" cy="320040"/>
          </a:xfrm>
          <a:prstGeom prst="rect">
            <a:avLst/>
          </a:prstGeom>
          <a:noFill/>
          <a:ln/>
        </p:spPr>
        <p:txBody>
          <a:bodyPr wrap="square" rtlCol="0" anchor="ctr"/>
          <a:lstStyle/>
          <a:p>
            <a:pPr marL="0" indent="0">
              <a:buNone/>
            </a:pPr>
            <a:r>
              <a:rPr lang="en-US" sz="1300" b="1" dirty="0">
                <a:solidFill>
                  <a:srgbClr val="5F259F"/>
                </a:solidFill>
                <a:latin typeface="Calibri" pitchFamily="34" charset="0"/>
                <a:ea typeface="Calibri" pitchFamily="34" charset="-122"/>
                <a:cs typeface="Calibri" pitchFamily="34" charset="-120"/>
              </a:rPr>
              <a:t>Learner Mix</a:t>
            </a:r>
            <a:endParaRPr lang="en-US" sz="1300" dirty="0"/>
          </a:p>
        </p:txBody>
      </p:sp>
      <p:sp>
        <p:nvSpPr>
          <p:cNvPr id="18" name="Text 16"/>
          <p:cNvSpPr/>
          <p:nvPr/>
        </p:nvSpPr>
        <p:spPr>
          <a:xfrm>
            <a:off x="8330184" y="2542032"/>
            <a:ext cx="3072384" cy="685800"/>
          </a:xfrm>
          <a:prstGeom prst="rect">
            <a:avLst/>
          </a:prstGeom>
          <a:noFill/>
          <a:ln/>
        </p:spPr>
        <p:txBody>
          <a:bodyPr wrap="square" rtlCol="0" anchor="ctr"/>
          <a:lstStyle/>
          <a:p>
            <a:pPr marL="0" indent="0">
              <a:lnSpc>
                <a:spcPct val="115000"/>
              </a:lnSpc>
              <a:buNone/>
            </a:pPr>
            <a:r>
              <a:rPr lang="en-US" sz="1050" dirty="0">
                <a:solidFill>
                  <a:srgbClr val="2B1B3D"/>
                </a:solidFill>
                <a:latin typeface="Calibri" pitchFamily="34" charset="0"/>
                <a:ea typeface="Calibri" pitchFamily="34" charset="-122"/>
                <a:cs typeface="Calibri" pitchFamily="34" charset="-120"/>
              </a:rPr>
              <a:t>Non-Premium learners make up 72% of the base — a strong pool for premium upgrade campaigns.</a:t>
            </a:r>
            <a:endParaRPr lang="en-US" sz="1050" dirty="0"/>
          </a:p>
        </p:txBody>
      </p:sp>
      <p:sp>
        <p:nvSpPr>
          <p:cNvPr id="19" name="Shape 17"/>
          <p:cNvSpPr/>
          <p:nvPr/>
        </p:nvSpPr>
        <p:spPr>
          <a:xfrm>
            <a:off x="548640" y="3520440"/>
            <a:ext cx="3529584" cy="1874520"/>
          </a:xfrm>
          <a:prstGeom prst="roundRect">
            <a:avLst>
              <a:gd name="adj" fmla="val 3902"/>
            </a:avLst>
          </a:prstGeom>
          <a:solidFill>
            <a:srgbClr val="F3ECFB"/>
          </a:solidFill>
          <a:ln/>
        </p:spPr>
        <p:txBody>
          <a:bodyPr/>
          <a:lstStyle/>
          <a:p>
            <a:endParaRPr lang="en-IN"/>
          </a:p>
        </p:txBody>
      </p:sp>
      <p:sp>
        <p:nvSpPr>
          <p:cNvPr id="20" name="Shape 18"/>
          <p:cNvSpPr/>
          <p:nvPr/>
        </p:nvSpPr>
        <p:spPr>
          <a:xfrm>
            <a:off x="777240" y="3721608"/>
            <a:ext cx="457200" cy="457200"/>
          </a:xfrm>
          <a:prstGeom prst="roundRect">
            <a:avLst>
              <a:gd name="adj" fmla="val 50000"/>
            </a:avLst>
          </a:prstGeom>
          <a:solidFill>
            <a:srgbClr val="5F259F"/>
          </a:solidFill>
          <a:ln/>
        </p:spPr>
        <p:txBody>
          <a:bodyPr/>
          <a:lstStyle/>
          <a:p>
            <a:endParaRPr lang="en-IN"/>
          </a:p>
        </p:txBody>
      </p:sp>
      <p:sp>
        <p:nvSpPr>
          <p:cNvPr id="21" name="Text 19"/>
          <p:cNvSpPr/>
          <p:nvPr/>
        </p:nvSpPr>
        <p:spPr>
          <a:xfrm>
            <a:off x="777240" y="37216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77240" y="4297680"/>
            <a:ext cx="3072384" cy="320040"/>
          </a:xfrm>
          <a:prstGeom prst="rect">
            <a:avLst/>
          </a:prstGeom>
          <a:noFill/>
          <a:ln/>
        </p:spPr>
        <p:txBody>
          <a:bodyPr wrap="square" rtlCol="0" anchor="ctr"/>
          <a:lstStyle/>
          <a:p>
            <a:pPr marL="0" indent="0">
              <a:buNone/>
            </a:pPr>
            <a:r>
              <a:rPr lang="en-US" sz="1300" b="1" dirty="0">
                <a:solidFill>
                  <a:srgbClr val="5F259F"/>
                </a:solidFill>
                <a:latin typeface="Calibri" pitchFamily="34" charset="0"/>
                <a:ea typeface="Calibri" pitchFamily="34" charset="-122"/>
                <a:cs typeface="Calibri" pitchFamily="34" charset="-120"/>
              </a:rPr>
              <a:t>Engagement Balance</a:t>
            </a:r>
            <a:endParaRPr lang="en-US" sz="1300" dirty="0"/>
          </a:p>
        </p:txBody>
      </p:sp>
      <p:sp>
        <p:nvSpPr>
          <p:cNvPr id="23" name="Text 21"/>
          <p:cNvSpPr/>
          <p:nvPr/>
        </p:nvSpPr>
        <p:spPr>
          <a:xfrm>
            <a:off x="777240" y="4599432"/>
            <a:ext cx="3072384" cy="685800"/>
          </a:xfrm>
          <a:prstGeom prst="rect">
            <a:avLst/>
          </a:prstGeom>
          <a:noFill/>
          <a:ln/>
        </p:spPr>
        <p:txBody>
          <a:bodyPr wrap="square" rtlCol="0" anchor="ctr"/>
          <a:lstStyle/>
          <a:p>
            <a:pPr marL="0" indent="0">
              <a:lnSpc>
                <a:spcPct val="115000"/>
              </a:lnSpc>
              <a:buNone/>
            </a:pPr>
            <a:r>
              <a:rPr lang="en-US" sz="1050" dirty="0">
                <a:solidFill>
                  <a:srgbClr val="2B1B3D"/>
                </a:solidFill>
                <a:latin typeface="Calibri" pitchFamily="34" charset="0"/>
                <a:ea typeface="Calibri" pitchFamily="34" charset="-122"/>
                <a:cs typeface="Calibri" pitchFamily="34" charset="-120"/>
              </a:rPr>
              <a:t>Web-only, app-only and blended usage are near-evenly split (33–34%) across the learner base.</a:t>
            </a:r>
            <a:endParaRPr lang="en-US" sz="1050" dirty="0"/>
          </a:p>
        </p:txBody>
      </p:sp>
      <p:sp>
        <p:nvSpPr>
          <p:cNvPr id="24" name="Shape 22"/>
          <p:cNvSpPr/>
          <p:nvPr/>
        </p:nvSpPr>
        <p:spPr>
          <a:xfrm>
            <a:off x="4325112" y="3520440"/>
            <a:ext cx="3529584" cy="1874520"/>
          </a:xfrm>
          <a:prstGeom prst="roundRect">
            <a:avLst>
              <a:gd name="adj" fmla="val 3902"/>
            </a:avLst>
          </a:prstGeom>
          <a:solidFill>
            <a:srgbClr val="F3ECFB"/>
          </a:solidFill>
          <a:ln/>
        </p:spPr>
        <p:txBody>
          <a:bodyPr/>
          <a:lstStyle/>
          <a:p>
            <a:endParaRPr lang="en-IN"/>
          </a:p>
        </p:txBody>
      </p:sp>
      <p:sp>
        <p:nvSpPr>
          <p:cNvPr id="25" name="Shape 23"/>
          <p:cNvSpPr/>
          <p:nvPr/>
        </p:nvSpPr>
        <p:spPr>
          <a:xfrm>
            <a:off x="4553712" y="3721608"/>
            <a:ext cx="457200" cy="457200"/>
          </a:xfrm>
          <a:prstGeom prst="roundRect">
            <a:avLst>
              <a:gd name="adj" fmla="val 50000"/>
            </a:avLst>
          </a:prstGeom>
          <a:solidFill>
            <a:srgbClr val="5F259F"/>
          </a:solidFill>
          <a:ln/>
        </p:spPr>
        <p:txBody>
          <a:bodyPr/>
          <a:lstStyle/>
          <a:p>
            <a:endParaRPr lang="en-IN"/>
          </a:p>
        </p:txBody>
      </p:sp>
      <p:sp>
        <p:nvSpPr>
          <p:cNvPr id="26" name="Text 24"/>
          <p:cNvSpPr/>
          <p:nvPr/>
        </p:nvSpPr>
        <p:spPr>
          <a:xfrm>
            <a:off x="4553712" y="37216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4553712" y="4297680"/>
            <a:ext cx="3072384" cy="320040"/>
          </a:xfrm>
          <a:prstGeom prst="rect">
            <a:avLst/>
          </a:prstGeom>
          <a:noFill/>
          <a:ln/>
        </p:spPr>
        <p:txBody>
          <a:bodyPr wrap="square" rtlCol="0" anchor="ctr"/>
          <a:lstStyle/>
          <a:p>
            <a:pPr marL="0" indent="0">
              <a:buNone/>
            </a:pPr>
            <a:r>
              <a:rPr lang="en-US" sz="1300" b="1" dirty="0">
                <a:solidFill>
                  <a:srgbClr val="5F259F"/>
                </a:solidFill>
                <a:latin typeface="Calibri" pitchFamily="34" charset="0"/>
                <a:ea typeface="Calibri" pitchFamily="34" charset="-122"/>
                <a:cs typeface="Calibri" pitchFamily="34" charset="-120"/>
              </a:rPr>
              <a:t>Geographic Reach</a:t>
            </a:r>
            <a:endParaRPr lang="en-US" sz="1300" dirty="0"/>
          </a:p>
        </p:txBody>
      </p:sp>
      <p:sp>
        <p:nvSpPr>
          <p:cNvPr id="28" name="Text 26"/>
          <p:cNvSpPr/>
          <p:nvPr/>
        </p:nvSpPr>
        <p:spPr>
          <a:xfrm>
            <a:off x="4553712" y="4599432"/>
            <a:ext cx="3072384" cy="685800"/>
          </a:xfrm>
          <a:prstGeom prst="rect">
            <a:avLst/>
          </a:prstGeom>
          <a:noFill/>
          <a:ln/>
        </p:spPr>
        <p:txBody>
          <a:bodyPr wrap="square" rtlCol="0" anchor="ctr"/>
          <a:lstStyle/>
          <a:p>
            <a:pPr marL="0" indent="0">
              <a:lnSpc>
                <a:spcPct val="115000"/>
              </a:lnSpc>
              <a:buNone/>
            </a:pPr>
            <a:r>
              <a:rPr lang="en-US" sz="1050" dirty="0">
                <a:solidFill>
                  <a:srgbClr val="2B1B3D"/>
                </a:solidFill>
                <a:latin typeface="Calibri" pitchFamily="34" charset="0"/>
                <a:ea typeface="Calibri" pitchFamily="34" charset="-122"/>
                <a:cs typeface="Calibri" pitchFamily="34" charset="-120"/>
              </a:rPr>
              <a:t>Uttar Pradesh (73) and Maharashtra (70) are the strongest states; representation is broad across 10 states.</a:t>
            </a:r>
            <a:endParaRPr lang="en-US" sz="1050" dirty="0"/>
          </a:p>
        </p:txBody>
      </p:sp>
      <p:sp>
        <p:nvSpPr>
          <p:cNvPr id="29" name="Shape 27"/>
          <p:cNvSpPr/>
          <p:nvPr/>
        </p:nvSpPr>
        <p:spPr>
          <a:xfrm>
            <a:off x="8101584" y="3520440"/>
            <a:ext cx="3529584" cy="1874520"/>
          </a:xfrm>
          <a:prstGeom prst="roundRect">
            <a:avLst>
              <a:gd name="adj" fmla="val 3902"/>
            </a:avLst>
          </a:prstGeom>
          <a:solidFill>
            <a:srgbClr val="F3ECFB"/>
          </a:solidFill>
          <a:ln/>
        </p:spPr>
        <p:txBody>
          <a:bodyPr/>
          <a:lstStyle/>
          <a:p>
            <a:endParaRPr lang="en-IN"/>
          </a:p>
        </p:txBody>
      </p:sp>
      <p:sp>
        <p:nvSpPr>
          <p:cNvPr id="30" name="Shape 28"/>
          <p:cNvSpPr/>
          <p:nvPr/>
        </p:nvSpPr>
        <p:spPr>
          <a:xfrm>
            <a:off x="8330184" y="3721608"/>
            <a:ext cx="457200" cy="457200"/>
          </a:xfrm>
          <a:prstGeom prst="roundRect">
            <a:avLst>
              <a:gd name="adj" fmla="val 50000"/>
            </a:avLst>
          </a:prstGeom>
          <a:solidFill>
            <a:srgbClr val="5F259F"/>
          </a:solidFill>
          <a:ln/>
        </p:spPr>
        <p:txBody>
          <a:bodyPr/>
          <a:lstStyle/>
          <a:p>
            <a:endParaRPr lang="en-IN"/>
          </a:p>
        </p:txBody>
      </p:sp>
      <p:sp>
        <p:nvSpPr>
          <p:cNvPr id="31" name="Text 29"/>
          <p:cNvSpPr/>
          <p:nvPr/>
        </p:nvSpPr>
        <p:spPr>
          <a:xfrm>
            <a:off x="8330184" y="37216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8330184" y="4297680"/>
            <a:ext cx="3072384" cy="320040"/>
          </a:xfrm>
          <a:prstGeom prst="rect">
            <a:avLst/>
          </a:prstGeom>
          <a:noFill/>
          <a:ln/>
        </p:spPr>
        <p:txBody>
          <a:bodyPr wrap="square" rtlCol="0" anchor="ctr"/>
          <a:lstStyle/>
          <a:p>
            <a:pPr marL="0" indent="0">
              <a:buNone/>
            </a:pPr>
            <a:r>
              <a:rPr lang="en-US" sz="1300" b="1" dirty="0">
                <a:solidFill>
                  <a:srgbClr val="5F259F"/>
                </a:solidFill>
                <a:latin typeface="Calibri" pitchFamily="34" charset="0"/>
                <a:ea typeface="Calibri" pitchFamily="34" charset="-122"/>
                <a:cs typeface="Calibri" pitchFamily="34" charset="-120"/>
              </a:rPr>
              <a:t>Study Engagement</a:t>
            </a:r>
            <a:endParaRPr lang="en-US" sz="1300" dirty="0"/>
          </a:p>
        </p:txBody>
      </p:sp>
      <p:sp>
        <p:nvSpPr>
          <p:cNvPr id="33" name="Text 31"/>
          <p:cNvSpPr/>
          <p:nvPr/>
        </p:nvSpPr>
        <p:spPr>
          <a:xfrm>
            <a:off x="8330184" y="4599432"/>
            <a:ext cx="3072384" cy="685800"/>
          </a:xfrm>
          <a:prstGeom prst="rect">
            <a:avLst/>
          </a:prstGeom>
          <a:noFill/>
          <a:ln/>
        </p:spPr>
        <p:txBody>
          <a:bodyPr wrap="square" rtlCol="0" anchor="ctr"/>
          <a:lstStyle/>
          <a:p>
            <a:pPr marL="0" indent="0">
              <a:lnSpc>
                <a:spcPct val="115000"/>
              </a:lnSpc>
              <a:buNone/>
            </a:pPr>
            <a:r>
              <a:rPr lang="en-US" sz="1050" dirty="0">
                <a:solidFill>
                  <a:srgbClr val="2B1B3D"/>
                </a:solidFill>
                <a:latin typeface="Calibri" pitchFamily="34" charset="0"/>
                <a:ea typeface="Calibri" pitchFamily="34" charset="-122"/>
                <a:cs typeface="Calibri" pitchFamily="34" charset="-120"/>
              </a:rPr>
              <a:t>26,100.9 total study hours logged, reflecting healthy day-to-day platform engagement.</a:t>
            </a:r>
            <a:endParaRPr lang="en-US" sz="1050" dirty="0"/>
          </a:p>
        </p:txBody>
      </p:sp>
      <p:sp>
        <p:nvSpPr>
          <p:cNvPr id="34" name="Text 32"/>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478"/>
                </a:solidFill>
                <a:latin typeface="Calibri" pitchFamily="34" charset="0"/>
                <a:ea typeface="Calibri" pitchFamily="34" charset="-122"/>
                <a:cs typeface="Calibri" pitchFamily="34" charset="-120"/>
              </a:rPr>
              <a:t>BYJU'S  |  Learning Analytics Dashboard</a:t>
            </a:r>
            <a:endParaRPr lang="en-US" sz="900" dirty="0"/>
          </a:p>
        </p:txBody>
      </p:sp>
      <p:sp>
        <p:nvSpPr>
          <p:cNvPr id="35" name="Text 33"/>
          <p:cNvSpPr/>
          <p:nvPr/>
        </p:nvSpPr>
        <p:spPr>
          <a:xfrm>
            <a:off x="11521440" y="6519672"/>
            <a:ext cx="365760" cy="274320"/>
          </a:xfrm>
          <a:prstGeom prst="rect">
            <a:avLst/>
          </a:prstGeom>
          <a:noFill/>
          <a:ln/>
        </p:spPr>
        <p:txBody>
          <a:bodyPr wrap="square" rtlCol="0" anchor="ctr"/>
          <a:lstStyle/>
          <a:p>
            <a:pPr marL="0" indent="0" algn="r">
              <a:buNone/>
            </a:pPr>
            <a:r>
              <a:rPr lang="en-US" sz="900" dirty="0">
                <a:solidFill>
                  <a:srgbClr val="6E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5F259F"/>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2B1B3D"/>
                </a:solidFill>
                <a:latin typeface="Cambria" pitchFamily="34" charset="0"/>
                <a:ea typeface="Cambria" pitchFamily="34" charset="-122"/>
                <a:cs typeface="Cambria" pitchFamily="34" charset="-120"/>
              </a:rPr>
              <a:t>Turning Insight Into Action</a:t>
            </a:r>
            <a:endParaRPr lang="en-US" sz="3000" dirty="0"/>
          </a:p>
        </p:txBody>
      </p:sp>
      <p:sp>
        <p:nvSpPr>
          <p:cNvPr id="4" name="Shape 2"/>
          <p:cNvSpPr/>
          <p:nvPr/>
        </p:nvSpPr>
        <p:spPr>
          <a:xfrm>
            <a:off x="548640" y="1508760"/>
            <a:ext cx="11064240" cy="1078992"/>
          </a:xfrm>
          <a:prstGeom prst="roundRect">
            <a:avLst>
              <a:gd name="adj" fmla="val 6780"/>
            </a:avLst>
          </a:prstGeom>
          <a:solidFill>
            <a:srgbClr val="F3ECFB"/>
          </a:solidFill>
          <a:ln w="12700">
            <a:solidFill>
              <a:srgbClr val="E4D6F7"/>
            </a:solidFill>
            <a:prstDash val="solid"/>
          </a:ln>
        </p:spPr>
        <p:txBody>
          <a:bodyPr/>
          <a:lstStyle/>
          <a:p>
            <a:endParaRPr lang="en-IN"/>
          </a:p>
        </p:txBody>
      </p:sp>
      <p:sp>
        <p:nvSpPr>
          <p:cNvPr id="5" name="Shape 3"/>
          <p:cNvSpPr/>
          <p:nvPr/>
        </p:nvSpPr>
        <p:spPr>
          <a:xfrm>
            <a:off x="777240" y="1796796"/>
            <a:ext cx="502920" cy="502920"/>
          </a:xfrm>
          <a:prstGeom prst="roundRect">
            <a:avLst>
              <a:gd name="adj" fmla="val 18182"/>
            </a:avLst>
          </a:prstGeom>
          <a:solidFill>
            <a:srgbClr val="F2A900"/>
          </a:solidFill>
          <a:ln/>
        </p:spPr>
        <p:txBody>
          <a:bodyPr/>
          <a:lstStyle/>
          <a:p>
            <a:endParaRPr lang="en-IN"/>
          </a:p>
        </p:txBody>
      </p:sp>
      <p:sp>
        <p:nvSpPr>
          <p:cNvPr id="6" name="Text 4"/>
          <p:cNvSpPr/>
          <p:nvPr/>
        </p:nvSpPr>
        <p:spPr>
          <a:xfrm>
            <a:off x="777240" y="1796796"/>
            <a:ext cx="502920" cy="502920"/>
          </a:xfrm>
          <a:prstGeom prst="rect">
            <a:avLst/>
          </a:prstGeom>
          <a:noFill/>
          <a:ln/>
        </p:spPr>
        <p:txBody>
          <a:bodyPr wrap="square" rtlCol="0" anchor="ctr"/>
          <a:lstStyle/>
          <a:p>
            <a:pPr marL="0" indent="0" algn="ctr">
              <a:buNone/>
            </a:pPr>
            <a:r>
              <a:rPr lang="en-US" sz="1800" b="1" dirty="0">
                <a:solidFill>
                  <a:srgbClr val="3A1760"/>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54480" y="1636776"/>
            <a:ext cx="3749040" cy="822960"/>
          </a:xfrm>
          <a:prstGeom prst="rect">
            <a:avLst/>
          </a:prstGeom>
          <a:noFill/>
          <a:ln/>
        </p:spPr>
        <p:txBody>
          <a:bodyPr wrap="square" rtlCol="0" anchor="ctr"/>
          <a:lstStyle/>
          <a:p>
            <a:pPr marL="0" indent="0">
              <a:buNone/>
            </a:pPr>
            <a:r>
              <a:rPr lang="en-US" sz="1450" b="1" dirty="0">
                <a:solidFill>
                  <a:srgbClr val="5F259F"/>
                </a:solidFill>
                <a:latin typeface="Calibri" pitchFamily="34" charset="0"/>
                <a:ea typeface="Calibri" pitchFamily="34" charset="-122"/>
                <a:cs typeface="Calibri" pitchFamily="34" charset="-120"/>
              </a:rPr>
              <a:t>Prioritise fee recovery</a:t>
            </a:r>
            <a:endParaRPr lang="en-US" sz="1450" dirty="0"/>
          </a:p>
        </p:txBody>
      </p:sp>
      <p:sp>
        <p:nvSpPr>
          <p:cNvPr id="8" name="Text 6"/>
          <p:cNvSpPr/>
          <p:nvPr/>
        </p:nvSpPr>
        <p:spPr>
          <a:xfrm>
            <a:off x="5394960" y="1636776"/>
            <a:ext cx="5943600" cy="822960"/>
          </a:xfrm>
          <a:prstGeom prst="rect">
            <a:avLst/>
          </a:prstGeom>
          <a:noFill/>
          <a:ln/>
        </p:spPr>
        <p:txBody>
          <a:bodyPr wrap="square" rtlCol="0" anchor="ctr"/>
          <a:lstStyle/>
          <a:p>
            <a:pPr marL="0" indent="0">
              <a:buNone/>
            </a:pPr>
            <a:r>
              <a:rPr lang="en-US" sz="1150" dirty="0">
                <a:solidFill>
                  <a:srgbClr val="2B1B3D"/>
                </a:solidFill>
                <a:latin typeface="Calibri" pitchFamily="34" charset="0"/>
                <a:ea typeface="Calibri" pitchFamily="34" charset="-122"/>
                <a:cs typeface="Calibri" pitchFamily="34" charset="-120"/>
              </a:rPr>
              <a:t>Target structured follow-ups on the ₹1.81 Cr outstanding, starting with the highest-value accounts.</a:t>
            </a:r>
            <a:endParaRPr lang="en-US" sz="1150" dirty="0"/>
          </a:p>
        </p:txBody>
      </p:sp>
      <p:sp>
        <p:nvSpPr>
          <p:cNvPr id="9" name="Shape 7"/>
          <p:cNvSpPr/>
          <p:nvPr/>
        </p:nvSpPr>
        <p:spPr>
          <a:xfrm>
            <a:off x="548640" y="2724912"/>
            <a:ext cx="11064240" cy="1078992"/>
          </a:xfrm>
          <a:prstGeom prst="roundRect">
            <a:avLst>
              <a:gd name="adj" fmla="val 6780"/>
            </a:avLst>
          </a:prstGeom>
          <a:solidFill>
            <a:srgbClr val="FFFFFF"/>
          </a:solidFill>
          <a:ln w="12700">
            <a:solidFill>
              <a:srgbClr val="E4D6F7"/>
            </a:solidFill>
            <a:prstDash val="solid"/>
          </a:ln>
        </p:spPr>
        <p:txBody>
          <a:bodyPr/>
          <a:lstStyle/>
          <a:p>
            <a:endParaRPr lang="en-IN"/>
          </a:p>
        </p:txBody>
      </p:sp>
      <p:sp>
        <p:nvSpPr>
          <p:cNvPr id="10" name="Shape 8"/>
          <p:cNvSpPr/>
          <p:nvPr/>
        </p:nvSpPr>
        <p:spPr>
          <a:xfrm>
            <a:off x="777240" y="3012948"/>
            <a:ext cx="502920" cy="502920"/>
          </a:xfrm>
          <a:prstGeom prst="roundRect">
            <a:avLst>
              <a:gd name="adj" fmla="val 18182"/>
            </a:avLst>
          </a:prstGeom>
          <a:solidFill>
            <a:srgbClr val="F2A900"/>
          </a:solidFill>
          <a:ln/>
        </p:spPr>
        <p:txBody>
          <a:bodyPr/>
          <a:lstStyle/>
          <a:p>
            <a:endParaRPr lang="en-IN"/>
          </a:p>
        </p:txBody>
      </p:sp>
      <p:sp>
        <p:nvSpPr>
          <p:cNvPr id="11" name="Text 9"/>
          <p:cNvSpPr/>
          <p:nvPr/>
        </p:nvSpPr>
        <p:spPr>
          <a:xfrm>
            <a:off x="777240" y="3012948"/>
            <a:ext cx="502920" cy="502920"/>
          </a:xfrm>
          <a:prstGeom prst="rect">
            <a:avLst/>
          </a:prstGeom>
          <a:noFill/>
          <a:ln/>
        </p:spPr>
        <p:txBody>
          <a:bodyPr wrap="square" rtlCol="0" anchor="ctr"/>
          <a:lstStyle/>
          <a:p>
            <a:pPr marL="0" indent="0" algn="ctr">
              <a:buNone/>
            </a:pPr>
            <a:r>
              <a:rPr lang="en-US" sz="1800" b="1" dirty="0">
                <a:solidFill>
                  <a:srgbClr val="3A1760"/>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54480" y="2852928"/>
            <a:ext cx="3749040" cy="822960"/>
          </a:xfrm>
          <a:prstGeom prst="rect">
            <a:avLst/>
          </a:prstGeom>
          <a:noFill/>
          <a:ln/>
        </p:spPr>
        <p:txBody>
          <a:bodyPr wrap="square" rtlCol="0" anchor="ctr"/>
          <a:lstStyle/>
          <a:p>
            <a:pPr marL="0" indent="0">
              <a:buNone/>
            </a:pPr>
            <a:r>
              <a:rPr lang="en-US" sz="1450" b="1" dirty="0">
                <a:solidFill>
                  <a:srgbClr val="5F259F"/>
                </a:solidFill>
                <a:latin typeface="Calibri" pitchFamily="34" charset="0"/>
                <a:ea typeface="Calibri" pitchFamily="34" charset="-122"/>
                <a:cs typeface="Calibri" pitchFamily="34" charset="-120"/>
              </a:rPr>
              <a:t>Scale NEET Prep capacity</a:t>
            </a:r>
            <a:endParaRPr lang="en-US" sz="1450" dirty="0"/>
          </a:p>
        </p:txBody>
      </p:sp>
      <p:sp>
        <p:nvSpPr>
          <p:cNvPr id="13" name="Text 11"/>
          <p:cNvSpPr/>
          <p:nvPr/>
        </p:nvSpPr>
        <p:spPr>
          <a:xfrm>
            <a:off x="5394960" y="2852928"/>
            <a:ext cx="5943600" cy="822960"/>
          </a:xfrm>
          <a:prstGeom prst="rect">
            <a:avLst/>
          </a:prstGeom>
          <a:noFill/>
          <a:ln/>
        </p:spPr>
        <p:txBody>
          <a:bodyPr wrap="square" rtlCol="0" anchor="ctr"/>
          <a:lstStyle/>
          <a:p>
            <a:pPr marL="0" indent="0">
              <a:buNone/>
            </a:pPr>
            <a:r>
              <a:rPr lang="en-US" sz="1150" dirty="0">
                <a:solidFill>
                  <a:srgbClr val="2B1B3D"/>
                </a:solidFill>
                <a:latin typeface="Calibri" pitchFamily="34" charset="0"/>
                <a:ea typeface="Calibri" pitchFamily="34" charset="-122"/>
                <a:cs typeface="Calibri" pitchFamily="34" charset="-120"/>
              </a:rPr>
              <a:t>Invest in tutors and content for NEET Prep given its lead in enrolment, fees and performance.</a:t>
            </a:r>
            <a:endParaRPr lang="en-US" sz="1150" dirty="0"/>
          </a:p>
        </p:txBody>
      </p:sp>
      <p:sp>
        <p:nvSpPr>
          <p:cNvPr id="14" name="Shape 12"/>
          <p:cNvSpPr/>
          <p:nvPr/>
        </p:nvSpPr>
        <p:spPr>
          <a:xfrm>
            <a:off x="548640" y="3941064"/>
            <a:ext cx="11064240" cy="1078992"/>
          </a:xfrm>
          <a:prstGeom prst="roundRect">
            <a:avLst>
              <a:gd name="adj" fmla="val 6780"/>
            </a:avLst>
          </a:prstGeom>
          <a:solidFill>
            <a:srgbClr val="F3ECFB"/>
          </a:solidFill>
          <a:ln w="12700">
            <a:solidFill>
              <a:srgbClr val="E4D6F7"/>
            </a:solidFill>
            <a:prstDash val="solid"/>
          </a:ln>
        </p:spPr>
        <p:txBody>
          <a:bodyPr/>
          <a:lstStyle/>
          <a:p>
            <a:endParaRPr lang="en-IN"/>
          </a:p>
        </p:txBody>
      </p:sp>
      <p:sp>
        <p:nvSpPr>
          <p:cNvPr id="15" name="Shape 13"/>
          <p:cNvSpPr/>
          <p:nvPr/>
        </p:nvSpPr>
        <p:spPr>
          <a:xfrm>
            <a:off x="777240" y="4229100"/>
            <a:ext cx="502920" cy="502920"/>
          </a:xfrm>
          <a:prstGeom prst="roundRect">
            <a:avLst>
              <a:gd name="adj" fmla="val 18182"/>
            </a:avLst>
          </a:prstGeom>
          <a:solidFill>
            <a:srgbClr val="F2A900"/>
          </a:solidFill>
          <a:ln/>
        </p:spPr>
        <p:txBody>
          <a:bodyPr/>
          <a:lstStyle/>
          <a:p>
            <a:endParaRPr lang="en-IN"/>
          </a:p>
        </p:txBody>
      </p:sp>
      <p:sp>
        <p:nvSpPr>
          <p:cNvPr id="16" name="Text 14"/>
          <p:cNvSpPr/>
          <p:nvPr/>
        </p:nvSpPr>
        <p:spPr>
          <a:xfrm>
            <a:off x="777240" y="4229100"/>
            <a:ext cx="502920" cy="502920"/>
          </a:xfrm>
          <a:prstGeom prst="rect">
            <a:avLst/>
          </a:prstGeom>
          <a:noFill/>
          <a:ln/>
        </p:spPr>
        <p:txBody>
          <a:bodyPr wrap="square" rtlCol="0" anchor="ctr"/>
          <a:lstStyle/>
          <a:p>
            <a:pPr marL="0" indent="0" algn="ctr">
              <a:buNone/>
            </a:pPr>
            <a:r>
              <a:rPr lang="en-US" sz="1800" b="1" dirty="0">
                <a:solidFill>
                  <a:srgbClr val="3A1760"/>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54480" y="4069080"/>
            <a:ext cx="3749040" cy="822960"/>
          </a:xfrm>
          <a:prstGeom prst="rect">
            <a:avLst/>
          </a:prstGeom>
          <a:noFill/>
          <a:ln/>
        </p:spPr>
        <p:txBody>
          <a:bodyPr wrap="square" rtlCol="0" anchor="ctr"/>
          <a:lstStyle/>
          <a:p>
            <a:pPr marL="0" indent="0">
              <a:buNone/>
            </a:pPr>
            <a:r>
              <a:rPr lang="en-US" sz="1450" b="1" dirty="0">
                <a:solidFill>
                  <a:srgbClr val="5F259F"/>
                </a:solidFill>
                <a:latin typeface="Calibri" pitchFamily="34" charset="0"/>
                <a:ea typeface="Calibri" pitchFamily="34" charset="-122"/>
                <a:cs typeface="Calibri" pitchFamily="34" charset="-120"/>
              </a:rPr>
              <a:t>Convert non-premium learners</a:t>
            </a:r>
            <a:endParaRPr lang="en-US" sz="1450" dirty="0"/>
          </a:p>
        </p:txBody>
      </p:sp>
      <p:sp>
        <p:nvSpPr>
          <p:cNvPr id="18" name="Text 16"/>
          <p:cNvSpPr/>
          <p:nvPr/>
        </p:nvSpPr>
        <p:spPr>
          <a:xfrm>
            <a:off x="5394960" y="4069080"/>
            <a:ext cx="5943600" cy="822960"/>
          </a:xfrm>
          <a:prstGeom prst="rect">
            <a:avLst/>
          </a:prstGeom>
          <a:noFill/>
          <a:ln/>
        </p:spPr>
        <p:txBody>
          <a:bodyPr wrap="square" rtlCol="0" anchor="ctr"/>
          <a:lstStyle/>
          <a:p>
            <a:pPr marL="0" indent="0">
              <a:buNone/>
            </a:pPr>
            <a:r>
              <a:rPr lang="en-US" sz="1150" dirty="0">
                <a:solidFill>
                  <a:srgbClr val="2B1B3D"/>
                </a:solidFill>
                <a:latin typeface="Calibri" pitchFamily="34" charset="0"/>
                <a:ea typeface="Calibri" pitchFamily="34" charset="-122"/>
                <a:cs typeface="Calibri" pitchFamily="34" charset="-120"/>
              </a:rPr>
              <a:t>Design upgrade offers for the 72% non-premium segment to grow premium revenue share.</a:t>
            </a:r>
            <a:endParaRPr lang="en-US" sz="1150" dirty="0"/>
          </a:p>
        </p:txBody>
      </p:sp>
      <p:sp>
        <p:nvSpPr>
          <p:cNvPr id="19" name="Shape 17"/>
          <p:cNvSpPr/>
          <p:nvPr/>
        </p:nvSpPr>
        <p:spPr>
          <a:xfrm>
            <a:off x="548640" y="5157216"/>
            <a:ext cx="11064240" cy="1078992"/>
          </a:xfrm>
          <a:prstGeom prst="roundRect">
            <a:avLst>
              <a:gd name="adj" fmla="val 6780"/>
            </a:avLst>
          </a:prstGeom>
          <a:solidFill>
            <a:srgbClr val="FFFFFF"/>
          </a:solidFill>
          <a:ln w="12700">
            <a:solidFill>
              <a:srgbClr val="E4D6F7"/>
            </a:solidFill>
            <a:prstDash val="solid"/>
          </a:ln>
        </p:spPr>
        <p:txBody>
          <a:bodyPr/>
          <a:lstStyle/>
          <a:p>
            <a:endParaRPr lang="en-IN"/>
          </a:p>
        </p:txBody>
      </p:sp>
      <p:sp>
        <p:nvSpPr>
          <p:cNvPr id="20" name="Shape 18"/>
          <p:cNvSpPr/>
          <p:nvPr/>
        </p:nvSpPr>
        <p:spPr>
          <a:xfrm>
            <a:off x="777240" y="5445252"/>
            <a:ext cx="502920" cy="502920"/>
          </a:xfrm>
          <a:prstGeom prst="roundRect">
            <a:avLst>
              <a:gd name="adj" fmla="val 18182"/>
            </a:avLst>
          </a:prstGeom>
          <a:solidFill>
            <a:srgbClr val="F2A900"/>
          </a:solidFill>
          <a:ln/>
        </p:spPr>
        <p:txBody>
          <a:bodyPr/>
          <a:lstStyle/>
          <a:p>
            <a:endParaRPr lang="en-IN"/>
          </a:p>
        </p:txBody>
      </p:sp>
      <p:sp>
        <p:nvSpPr>
          <p:cNvPr id="21" name="Text 19"/>
          <p:cNvSpPr/>
          <p:nvPr/>
        </p:nvSpPr>
        <p:spPr>
          <a:xfrm>
            <a:off x="777240" y="5445252"/>
            <a:ext cx="502920" cy="502920"/>
          </a:xfrm>
          <a:prstGeom prst="rect">
            <a:avLst/>
          </a:prstGeom>
          <a:noFill/>
          <a:ln/>
        </p:spPr>
        <p:txBody>
          <a:bodyPr wrap="square" rtlCol="0" anchor="ctr"/>
          <a:lstStyle/>
          <a:p>
            <a:pPr marL="0" indent="0" algn="ctr">
              <a:buNone/>
            </a:pPr>
            <a:r>
              <a:rPr lang="en-US" sz="1800" b="1" dirty="0">
                <a:solidFill>
                  <a:srgbClr val="3A1760"/>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1554480" y="5285232"/>
            <a:ext cx="3749040" cy="822960"/>
          </a:xfrm>
          <a:prstGeom prst="rect">
            <a:avLst/>
          </a:prstGeom>
          <a:noFill/>
          <a:ln/>
        </p:spPr>
        <p:txBody>
          <a:bodyPr wrap="square" rtlCol="0" anchor="ctr"/>
          <a:lstStyle/>
          <a:p>
            <a:pPr marL="0" indent="0">
              <a:buNone/>
            </a:pPr>
            <a:r>
              <a:rPr lang="en-US" sz="1450" b="1" dirty="0">
                <a:solidFill>
                  <a:srgbClr val="5F259F"/>
                </a:solidFill>
                <a:latin typeface="Calibri" pitchFamily="34" charset="0"/>
                <a:ea typeface="Calibri" pitchFamily="34" charset="-122"/>
                <a:cs typeface="Calibri" pitchFamily="34" charset="-120"/>
              </a:rPr>
              <a:t>Sustain omni-channel access</a:t>
            </a:r>
            <a:endParaRPr lang="en-US" sz="1450" dirty="0"/>
          </a:p>
        </p:txBody>
      </p:sp>
      <p:sp>
        <p:nvSpPr>
          <p:cNvPr id="23" name="Text 21"/>
          <p:cNvSpPr/>
          <p:nvPr/>
        </p:nvSpPr>
        <p:spPr>
          <a:xfrm>
            <a:off x="5394960" y="5285232"/>
            <a:ext cx="5943600" cy="822960"/>
          </a:xfrm>
          <a:prstGeom prst="rect">
            <a:avLst/>
          </a:prstGeom>
          <a:noFill/>
          <a:ln/>
        </p:spPr>
        <p:txBody>
          <a:bodyPr wrap="square" rtlCol="0" anchor="ctr"/>
          <a:lstStyle/>
          <a:p>
            <a:pPr marL="0" indent="0">
              <a:buNone/>
            </a:pPr>
            <a:r>
              <a:rPr lang="en-US" sz="1150" dirty="0">
                <a:solidFill>
                  <a:srgbClr val="2B1B3D"/>
                </a:solidFill>
                <a:latin typeface="Calibri" pitchFamily="34" charset="0"/>
                <a:ea typeface="Calibri" pitchFamily="34" charset="-122"/>
                <a:cs typeface="Calibri" pitchFamily="34" charset="-120"/>
              </a:rPr>
              <a:t>Keep investing across web and app equally, since usage is evenly balanced across both.</a:t>
            </a:r>
            <a:endParaRPr lang="en-US" sz="1150" dirty="0"/>
          </a:p>
        </p:txBody>
      </p:sp>
      <p:sp>
        <p:nvSpPr>
          <p:cNvPr id="24" name="Text 22"/>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478"/>
                </a:solidFill>
                <a:latin typeface="Calibri" pitchFamily="34" charset="0"/>
                <a:ea typeface="Calibri" pitchFamily="34" charset="-122"/>
                <a:cs typeface="Calibri" pitchFamily="34" charset="-120"/>
              </a:rPr>
              <a:t>BYJU'S  |  Learning Analytics Dashboard</a:t>
            </a:r>
            <a:endParaRPr lang="en-US" sz="900" dirty="0"/>
          </a:p>
        </p:txBody>
      </p:sp>
      <p:sp>
        <p:nvSpPr>
          <p:cNvPr id="25" name="Text 23"/>
          <p:cNvSpPr/>
          <p:nvPr/>
        </p:nvSpPr>
        <p:spPr>
          <a:xfrm>
            <a:off x="11521440" y="6519672"/>
            <a:ext cx="365760" cy="274320"/>
          </a:xfrm>
          <a:prstGeom prst="rect">
            <a:avLst/>
          </a:prstGeom>
          <a:noFill/>
          <a:ln/>
        </p:spPr>
        <p:txBody>
          <a:bodyPr wrap="square" rtlCol="0" anchor="ctr"/>
          <a:lstStyle/>
          <a:p>
            <a:pPr marL="0" indent="0" algn="r">
              <a:buNone/>
            </a:pPr>
            <a:r>
              <a:rPr lang="en-US" sz="900" dirty="0">
                <a:solidFill>
                  <a:srgbClr val="6E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A1760"/>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572000" cy="4572000"/>
          </a:xfrm>
          <a:prstGeom prst="ellipse">
            <a:avLst/>
          </a:prstGeom>
          <a:solidFill>
            <a:srgbClr val="5F259F">
              <a:alpha val="60000"/>
            </a:srgbClr>
          </a:solidFill>
          <a:ln/>
        </p:spPr>
        <p:txBody>
          <a:bodyPr/>
          <a:lstStyle/>
          <a:p>
            <a:endParaRPr lang="en-IN"/>
          </a:p>
        </p:txBody>
      </p:sp>
      <p:sp>
        <p:nvSpPr>
          <p:cNvPr id="3" name="Shape 1"/>
          <p:cNvSpPr/>
          <p:nvPr/>
        </p:nvSpPr>
        <p:spPr>
          <a:xfrm>
            <a:off x="9875520" y="4206240"/>
            <a:ext cx="4114800" cy="4114800"/>
          </a:xfrm>
          <a:prstGeom prst="ellipse">
            <a:avLst/>
          </a:prstGeom>
          <a:solidFill>
            <a:srgbClr val="F2A900">
              <a:alpha val="22000"/>
            </a:srgbClr>
          </a:solidFill>
          <a:ln/>
        </p:spPr>
        <p:txBody>
          <a:bodyPr/>
          <a:lstStyle/>
          <a:p>
            <a:endParaRPr lang="en-IN"/>
          </a:p>
        </p:txBody>
      </p:sp>
      <p:sp>
        <p:nvSpPr>
          <p:cNvPr id="4" name="Text 2"/>
          <p:cNvSpPr/>
          <p:nvPr/>
        </p:nvSpPr>
        <p:spPr>
          <a:xfrm>
            <a:off x="0" y="2377440"/>
            <a:ext cx="12188952" cy="100584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0" y="3337560"/>
            <a:ext cx="12188952" cy="457200"/>
          </a:xfrm>
          <a:prstGeom prst="rect">
            <a:avLst/>
          </a:prstGeom>
          <a:noFill/>
          <a:ln/>
        </p:spPr>
        <p:txBody>
          <a:bodyPr wrap="square" rtlCol="0" anchor="ctr"/>
          <a:lstStyle/>
          <a:p>
            <a:pPr marL="0" indent="0" algn="ctr">
              <a:buNone/>
            </a:pPr>
            <a:r>
              <a:rPr lang="en-US" sz="1600" dirty="0">
                <a:solidFill>
                  <a:srgbClr val="E4D5F7"/>
                </a:solidFill>
                <a:latin typeface="Calibri" pitchFamily="34" charset="0"/>
                <a:ea typeface="Calibri" pitchFamily="34" charset="-122"/>
                <a:cs typeface="Calibri" pitchFamily="34" charset="-120"/>
              </a:rPr>
              <a:t>Questions &amp; Discussion</a:t>
            </a:r>
            <a:endParaRPr lang="en-US" sz="1600" dirty="0"/>
          </a:p>
        </p:txBody>
      </p:sp>
      <p:sp>
        <p:nvSpPr>
          <p:cNvPr id="6" name="Shape 4"/>
          <p:cNvSpPr/>
          <p:nvPr/>
        </p:nvSpPr>
        <p:spPr>
          <a:xfrm>
            <a:off x="5394960" y="4160520"/>
            <a:ext cx="1371600" cy="0"/>
          </a:xfrm>
          <a:prstGeom prst="line">
            <a:avLst/>
          </a:prstGeom>
          <a:noFill/>
          <a:ln w="25400">
            <a:solidFill>
              <a:srgbClr val="F2A900"/>
            </a:solidFill>
            <a:prstDash val="solid"/>
          </a:ln>
        </p:spPr>
        <p:txBody>
          <a:bodyPr/>
          <a:lstStyle/>
          <a:p>
            <a:endParaRPr lang="en-IN"/>
          </a:p>
        </p:txBody>
      </p:sp>
      <p:sp>
        <p:nvSpPr>
          <p:cNvPr id="7" name="Text 5"/>
          <p:cNvSpPr/>
          <p:nvPr/>
        </p:nvSpPr>
        <p:spPr>
          <a:xfrm>
            <a:off x="0" y="4343400"/>
            <a:ext cx="12188952" cy="411480"/>
          </a:xfrm>
          <a:prstGeom prst="rect">
            <a:avLst/>
          </a:prstGeom>
          <a:noFill/>
          <a:ln/>
        </p:spPr>
        <p:txBody>
          <a:bodyPr wrap="square" rtlCol="0" anchor="ctr"/>
          <a:lstStyle/>
          <a:p>
            <a:pPr marL="0" indent="0" algn="ctr">
              <a:buNone/>
            </a:pPr>
            <a:r>
              <a:rPr lang="en-US" sz="1800" b="1" dirty="0">
                <a:solidFill>
                  <a:srgbClr val="F2A900"/>
                </a:solidFill>
                <a:latin typeface="Cambria" pitchFamily="34" charset="0"/>
                <a:ea typeface="Cambria" pitchFamily="34" charset="-122"/>
                <a:cs typeface="Cambria" pitchFamily="34" charset="-120"/>
              </a:rPr>
              <a:t>SATHYAMOORTHY M</a:t>
            </a:r>
            <a:endParaRPr lang="en-US" sz="1800" dirty="0"/>
          </a:p>
        </p:txBody>
      </p:sp>
      <p:sp>
        <p:nvSpPr>
          <p:cNvPr id="8" name="Text 6"/>
          <p:cNvSpPr/>
          <p:nvPr/>
        </p:nvSpPr>
        <p:spPr>
          <a:xfrm>
            <a:off x="0" y="4736592"/>
            <a:ext cx="12188952" cy="320040"/>
          </a:xfrm>
          <a:prstGeom prst="rect">
            <a:avLst/>
          </a:prstGeom>
          <a:noFill/>
          <a:ln/>
        </p:spPr>
        <p:txBody>
          <a:bodyPr wrap="square" rtlCol="0" anchor="ctr"/>
          <a:lstStyle/>
          <a:p>
            <a:pPr marL="0" indent="0" algn="ctr">
              <a:buNone/>
            </a:pPr>
            <a:r>
              <a:rPr lang="en-US" sz="1200" dirty="0">
                <a:solidFill>
                  <a:srgbClr val="C7B3E0"/>
                </a:solidFill>
                <a:latin typeface="Calibri" pitchFamily="34" charset="0"/>
                <a:ea typeface="Calibri" pitchFamily="34" charset="-122"/>
                <a:cs typeface="Calibri" pitchFamily="34" charset="-120"/>
              </a:rPr>
              <a:t>Advanced Excel  |  BYJU'S Learning Analytics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656</Words>
  <Application>Microsoft Office PowerPoint</Application>
  <PresentationFormat>Widescreen</PresentationFormat>
  <Paragraphs>132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BYJU'S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SATHYAMOORTHY M</dc:creator>
  <cp:lastModifiedBy>S0901168</cp:lastModifiedBy>
  <cp:revision>1</cp:revision>
  <dcterms:created xsi:type="dcterms:W3CDTF">2026-09-24T10:38:32Z</dcterms:created>
  <dcterms:modified xsi:type="dcterms:W3CDTF">2026-09-24T11:03:37Z</dcterms:modified>
</cp:coreProperties>
</file>